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1"/>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rebuchet MS" charset="1" panose="020B0603020202020204"/>
      <p:regular r:id="rId17"/>
    </p:embeddedFont>
    <p:embeddedFont>
      <p:font typeface="Trebuchet MS Bold" charset="1" panose="020B0703020202020204"/>
      <p:regular r:id="rId18"/>
    </p:embeddedFont>
    <p:embeddedFont>
      <p:font typeface="Times New Roman MT" charset="1" panose="02030502070405020303"/>
      <p:regular r:id="rId19"/>
    </p:embeddedFont>
    <p:embeddedFont>
      <p:font typeface="Times New Roman MT Bold" charset="1" panose="02030802070405020303"/>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notesMasters/notesMaster1.xml" Type="http://schemas.openxmlformats.org/officeDocument/2006/relationships/notesMaster"/><Relationship Id="rId22" Target="theme/theme2.xml" Type="http://schemas.openxmlformats.org/officeDocument/2006/relationships/theme"/><Relationship Id="rId23" Target="notesSlides/notesSlide1.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4.png" Type="http://schemas.openxmlformats.org/officeDocument/2006/relationships/image"/><Relationship Id="rId4"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https://github.com/PERSONAL-PROJECTS-2000/STEGANOWEB.git"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10464" y="2074213"/>
            <a:ext cx="1844349" cy="1589956"/>
            <a:chOff x="0" y="0"/>
            <a:chExt cx="2459132" cy="2119942"/>
          </a:xfrm>
        </p:grpSpPr>
        <p:sp>
          <p:nvSpPr>
            <p:cNvPr name="Freeform 30" id="30"/>
            <p:cNvSpPr/>
            <p:nvPr/>
          </p:nvSpPr>
          <p:spPr>
            <a:xfrm flipH="false" flipV="false" rot="0">
              <a:off x="0" y="0"/>
              <a:ext cx="2459101" cy="2119884"/>
            </a:xfrm>
            <a:custGeom>
              <a:avLst/>
              <a:gdLst/>
              <a:ahLst/>
              <a:cxnLst/>
              <a:rect r="r" b="b" t="t" l="l"/>
              <a:pathLst>
                <a:path h="2119884" w="2459101">
                  <a:moveTo>
                    <a:pt x="0" y="1059942"/>
                  </a:moveTo>
                  <a:lnTo>
                    <a:pt x="529971" y="0"/>
                  </a:lnTo>
                  <a:lnTo>
                    <a:pt x="1929130" y="0"/>
                  </a:lnTo>
                  <a:lnTo>
                    <a:pt x="2459101" y="1059942"/>
                  </a:lnTo>
                  <a:lnTo>
                    <a:pt x="1929130" y="2119884"/>
                  </a:lnTo>
                  <a:lnTo>
                    <a:pt x="529971" y="2119884"/>
                  </a:lnTo>
                  <a:close/>
                </a:path>
              </a:pathLst>
            </a:custGeom>
            <a:solidFill>
              <a:srgbClr val="5FCBEF"/>
            </a:solidFill>
            <a:ln w="12700">
              <a:solidFill>
                <a:srgbClr val="000000"/>
              </a:solidFill>
            </a:ln>
          </p:spPr>
        </p:sp>
      </p:grpSp>
      <p:grpSp>
        <p:nvGrpSpPr>
          <p:cNvPr name="Group 31" id="31"/>
          <p:cNvGrpSpPr/>
          <p:nvPr/>
        </p:nvGrpSpPr>
        <p:grpSpPr>
          <a:xfrm rot="0">
            <a:off x="5632546" y="1791930"/>
            <a:ext cx="2499243" cy="2154520"/>
            <a:chOff x="0" y="0"/>
            <a:chExt cx="3332324" cy="2872694"/>
          </a:xfrm>
        </p:grpSpPr>
        <p:sp>
          <p:nvSpPr>
            <p:cNvPr name="Freeform 32" id="32"/>
            <p:cNvSpPr/>
            <p:nvPr/>
          </p:nvSpPr>
          <p:spPr>
            <a:xfrm flipH="false" flipV="false" rot="0">
              <a:off x="0" y="0"/>
              <a:ext cx="3332353" cy="2872740"/>
            </a:xfrm>
            <a:custGeom>
              <a:avLst/>
              <a:gdLst/>
              <a:ahLst/>
              <a:cxnLst/>
              <a:rect r="r" b="b" t="t" l="l"/>
              <a:pathLst>
                <a:path h="2872740" w="3332353">
                  <a:moveTo>
                    <a:pt x="0" y="1436370"/>
                  </a:moveTo>
                  <a:lnTo>
                    <a:pt x="718185" y="0"/>
                  </a:lnTo>
                  <a:lnTo>
                    <a:pt x="2614168" y="0"/>
                  </a:lnTo>
                  <a:lnTo>
                    <a:pt x="3332353" y="1436370"/>
                  </a:lnTo>
                  <a:lnTo>
                    <a:pt x="2614168" y="2872740"/>
                  </a:lnTo>
                  <a:lnTo>
                    <a:pt x="718185" y="2872740"/>
                  </a:lnTo>
                  <a:close/>
                </a:path>
              </a:pathLst>
            </a:custGeom>
            <a:solidFill>
              <a:srgbClr val="42D0A2"/>
            </a:solidFill>
            <a:ln w="12700">
              <a:solidFill>
                <a:srgbClr val="000000"/>
              </a:solidFill>
            </a:ln>
          </p:spPr>
        </p:sp>
      </p:grpSp>
      <p:grpSp>
        <p:nvGrpSpPr>
          <p:cNvPr name="Group 33" id="33"/>
          <p:cNvGrpSpPr/>
          <p:nvPr/>
        </p:nvGrpSpPr>
        <p:grpSpPr>
          <a:xfrm rot="0">
            <a:off x="5707491" y="7849774"/>
            <a:ext cx="1077391" cy="928786"/>
            <a:chOff x="0" y="0"/>
            <a:chExt cx="1436522" cy="1238382"/>
          </a:xfrm>
        </p:grpSpPr>
        <p:sp>
          <p:nvSpPr>
            <p:cNvPr name="Freeform 34" id="34"/>
            <p:cNvSpPr/>
            <p:nvPr/>
          </p:nvSpPr>
          <p:spPr>
            <a:xfrm flipH="false" flipV="false" rot="0">
              <a:off x="0" y="0"/>
              <a:ext cx="1436497" cy="1238377"/>
            </a:xfrm>
            <a:custGeom>
              <a:avLst/>
              <a:gdLst/>
              <a:ahLst/>
              <a:cxnLst/>
              <a:rect r="r" b="b" t="t" l="l"/>
              <a:pathLst>
                <a:path h="1238377" w="1436497">
                  <a:moveTo>
                    <a:pt x="0" y="619252"/>
                  </a:moveTo>
                  <a:lnTo>
                    <a:pt x="309626" y="0"/>
                  </a:lnTo>
                  <a:lnTo>
                    <a:pt x="1126871" y="0"/>
                  </a:lnTo>
                  <a:lnTo>
                    <a:pt x="1436497" y="619252"/>
                  </a:lnTo>
                  <a:lnTo>
                    <a:pt x="1126871" y="1238377"/>
                  </a:lnTo>
                  <a:lnTo>
                    <a:pt x="309626" y="1238377"/>
                  </a:lnTo>
                  <a:close/>
                </a:path>
              </a:pathLst>
            </a:custGeom>
            <a:solidFill>
              <a:srgbClr val="42B051"/>
            </a:solidFill>
            <a:ln w="12700">
              <a:solidFill>
                <a:srgbClr val="000000"/>
              </a:solidFill>
            </a:ln>
          </p:spPr>
        </p:sp>
      </p:grpSp>
      <p:grpSp>
        <p:nvGrpSpPr>
          <p:cNvPr name="Group 35" id="35"/>
          <p:cNvGrpSpPr/>
          <p:nvPr/>
        </p:nvGrpSpPr>
        <p:grpSpPr>
          <a:xfrm rot="0">
            <a:off x="2756757" y="1651959"/>
            <a:ext cx="977420" cy="842604"/>
            <a:chOff x="0" y="0"/>
            <a:chExt cx="1303226" cy="1123472"/>
          </a:xfrm>
        </p:grpSpPr>
        <p:sp>
          <p:nvSpPr>
            <p:cNvPr name="Freeform 36" id="36"/>
            <p:cNvSpPr/>
            <p:nvPr/>
          </p:nvSpPr>
          <p:spPr>
            <a:xfrm flipH="false" flipV="false" rot="0">
              <a:off x="0" y="0"/>
              <a:ext cx="1303274" cy="1123442"/>
            </a:xfrm>
            <a:custGeom>
              <a:avLst/>
              <a:gdLst/>
              <a:ahLst/>
              <a:cxnLst/>
              <a:rect r="r" b="b" t="t" l="l"/>
              <a:pathLst>
                <a:path h="1123442" w="1303274">
                  <a:moveTo>
                    <a:pt x="0" y="561721"/>
                  </a:moveTo>
                  <a:lnTo>
                    <a:pt x="280924" y="0"/>
                  </a:lnTo>
                  <a:lnTo>
                    <a:pt x="1022350" y="0"/>
                  </a:lnTo>
                  <a:lnTo>
                    <a:pt x="1303274" y="561721"/>
                  </a:lnTo>
                  <a:lnTo>
                    <a:pt x="1022350" y="1123442"/>
                  </a:lnTo>
                  <a:lnTo>
                    <a:pt x="280924" y="1123442"/>
                  </a:lnTo>
                  <a:close/>
                </a:path>
              </a:pathLst>
            </a:custGeom>
            <a:solidFill>
              <a:srgbClr val="2E946B"/>
            </a:solidFill>
            <a:ln w="12700">
              <a:solidFill>
                <a:srgbClr val="000000"/>
              </a:solidFill>
            </a:ln>
          </p:spPr>
        </p:sp>
      </p:grpSp>
      <p:grpSp>
        <p:nvGrpSpPr>
          <p:cNvPr name="Group 37" id="37"/>
          <p:cNvGrpSpPr>
            <a:grpSpLocks noChangeAspect="true"/>
          </p:cNvGrpSpPr>
          <p:nvPr/>
        </p:nvGrpSpPr>
        <p:grpSpPr>
          <a:xfrm rot="0">
            <a:off x="1013936" y="9707880"/>
            <a:ext cx="3214688" cy="289560"/>
            <a:chOff x="0" y="0"/>
            <a:chExt cx="4286250" cy="386080"/>
          </a:xfrm>
        </p:grpSpPr>
        <p:sp>
          <p:nvSpPr>
            <p:cNvPr name="Freeform 38" id="38"/>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grpSp>
        <p:nvGrpSpPr>
          <p:cNvPr name="Group 39" id="39"/>
          <p:cNvGrpSpPr/>
          <p:nvPr/>
        </p:nvGrpSpPr>
        <p:grpSpPr>
          <a:xfrm rot="0">
            <a:off x="1198166" y="1022350"/>
            <a:ext cx="12574048" cy="8229600"/>
            <a:chOff x="0" y="0"/>
            <a:chExt cx="3311683" cy="2167467"/>
          </a:xfrm>
        </p:grpSpPr>
        <p:sp>
          <p:nvSpPr>
            <p:cNvPr name="Freeform 40" id="40"/>
            <p:cNvSpPr/>
            <p:nvPr/>
          </p:nvSpPr>
          <p:spPr>
            <a:xfrm flipH="false" flipV="false" rot="0">
              <a:off x="0" y="0"/>
              <a:ext cx="3311684" cy="2167467"/>
            </a:xfrm>
            <a:custGeom>
              <a:avLst/>
              <a:gdLst/>
              <a:ahLst/>
              <a:cxnLst/>
              <a:rect r="r" b="b" t="t" l="l"/>
              <a:pathLst>
                <a:path h="2167467" w="3311684">
                  <a:moveTo>
                    <a:pt x="31401" y="0"/>
                  </a:moveTo>
                  <a:lnTo>
                    <a:pt x="3280282" y="0"/>
                  </a:lnTo>
                  <a:cubicBezTo>
                    <a:pt x="3297625" y="0"/>
                    <a:pt x="3311684" y="14059"/>
                    <a:pt x="3311684" y="31401"/>
                  </a:cubicBezTo>
                  <a:lnTo>
                    <a:pt x="3311684" y="2136066"/>
                  </a:lnTo>
                  <a:cubicBezTo>
                    <a:pt x="3311684" y="2153408"/>
                    <a:pt x="3297625" y="2167467"/>
                    <a:pt x="3280282" y="2167467"/>
                  </a:cubicBezTo>
                  <a:lnTo>
                    <a:pt x="31401" y="2167467"/>
                  </a:lnTo>
                  <a:cubicBezTo>
                    <a:pt x="14059" y="2167467"/>
                    <a:pt x="0" y="2153408"/>
                    <a:pt x="0" y="2136066"/>
                  </a:cubicBezTo>
                  <a:lnTo>
                    <a:pt x="0" y="31401"/>
                  </a:lnTo>
                  <a:cubicBezTo>
                    <a:pt x="0" y="14059"/>
                    <a:pt x="14059" y="0"/>
                    <a:pt x="31401" y="0"/>
                  </a:cubicBezTo>
                  <a:close/>
                </a:path>
              </a:pathLst>
            </a:custGeom>
            <a:gradFill rotWithShape="true">
              <a:gsLst>
                <a:gs pos="0">
                  <a:srgbClr val="CDFFD8">
                    <a:alpha val="50000"/>
                  </a:srgbClr>
                </a:gs>
                <a:gs pos="100000">
                  <a:srgbClr val="94B9FF">
                    <a:alpha val="50000"/>
                  </a:srgbClr>
                </a:gs>
              </a:gsLst>
              <a:lin ang="0"/>
            </a:gradFill>
          </p:spPr>
        </p:sp>
        <p:sp>
          <p:nvSpPr>
            <p:cNvPr name="TextBox 41" id="41"/>
            <p:cNvSpPr txBox="true"/>
            <p:nvPr/>
          </p:nvSpPr>
          <p:spPr>
            <a:xfrm>
              <a:off x="0" y="-9525"/>
              <a:ext cx="3311683" cy="2176992"/>
            </a:xfrm>
            <a:prstGeom prst="rect">
              <a:avLst/>
            </a:prstGeom>
          </p:spPr>
          <p:txBody>
            <a:bodyPr anchor="ctr" rtlCol="false" tIns="50800" lIns="50800" bIns="50800" rIns="50800"/>
            <a:lstStyle/>
            <a:p>
              <a:pPr algn="ctr">
                <a:lnSpc>
                  <a:spcPts val="1980"/>
                </a:lnSpc>
              </a:pPr>
            </a:p>
          </p:txBody>
        </p:sp>
      </p:grpSp>
      <p:sp>
        <p:nvSpPr>
          <p:cNvPr name="TextBox 42" id="42"/>
          <p:cNvSpPr txBox="true"/>
          <p:nvPr/>
        </p:nvSpPr>
        <p:spPr>
          <a:xfrm rot="0">
            <a:off x="2168289" y="5683837"/>
            <a:ext cx="8755532" cy="1838325"/>
          </a:xfrm>
          <a:prstGeom prst="rect">
            <a:avLst/>
          </a:prstGeom>
        </p:spPr>
        <p:txBody>
          <a:bodyPr anchor="t" rtlCol="false" tIns="0" lIns="0" bIns="0" rIns="0">
            <a:spAutoFit/>
          </a:bodyPr>
          <a:lstStyle/>
          <a:p>
            <a:pPr algn="ctr">
              <a:lnSpc>
                <a:spcPts val="3600"/>
              </a:lnSpc>
            </a:pPr>
            <a:r>
              <a:rPr lang="en-US" sz="3000">
                <a:solidFill>
                  <a:srgbClr val="000000"/>
                </a:solidFill>
                <a:latin typeface="Trebuchet MS"/>
                <a:ea typeface="Trebuchet MS"/>
                <a:cs typeface="Trebuchet MS"/>
                <a:sym typeface="Trebuchet MS"/>
              </a:rPr>
              <a:t>PRIYADARSHINY DAS</a:t>
            </a:r>
          </a:p>
          <a:p>
            <a:pPr algn="ctr">
              <a:lnSpc>
                <a:spcPts val="3600"/>
              </a:lnSpc>
            </a:pPr>
            <a:r>
              <a:rPr lang="en-US" sz="3000">
                <a:solidFill>
                  <a:srgbClr val="000000"/>
                </a:solidFill>
                <a:latin typeface="Trebuchet MS"/>
                <a:ea typeface="Trebuchet MS"/>
                <a:cs typeface="Trebuchet MS"/>
                <a:sym typeface="Trebuchet MS"/>
              </a:rPr>
              <a:t>Techno Main Salt Lake</a:t>
            </a:r>
          </a:p>
          <a:p>
            <a:pPr algn="ctr">
              <a:lnSpc>
                <a:spcPts val="3600"/>
              </a:lnSpc>
            </a:pPr>
            <a:r>
              <a:rPr lang="en-US" sz="3000">
                <a:solidFill>
                  <a:srgbClr val="000000"/>
                </a:solidFill>
                <a:latin typeface="Trebuchet MS"/>
                <a:ea typeface="Trebuchet MS"/>
                <a:cs typeface="Trebuchet MS"/>
                <a:sym typeface="Trebuchet MS"/>
              </a:rPr>
              <a:t>B.Tech in Computer Science And Engineering- Cyber Security (2024-2028)</a:t>
            </a:r>
          </a:p>
        </p:txBody>
      </p:sp>
      <p:sp>
        <p:nvSpPr>
          <p:cNvPr name="TextBox 43" id="43"/>
          <p:cNvSpPr txBox="true"/>
          <p:nvPr/>
        </p:nvSpPr>
        <p:spPr>
          <a:xfrm rot="0">
            <a:off x="2032638" y="2308225"/>
            <a:ext cx="10803901" cy="1809750"/>
          </a:xfrm>
          <a:prstGeom prst="rect">
            <a:avLst/>
          </a:prstGeom>
        </p:spPr>
        <p:txBody>
          <a:bodyPr anchor="t" rtlCol="false" tIns="0" lIns="0" bIns="0" rIns="0">
            <a:spAutoFit/>
          </a:bodyPr>
          <a:lstStyle/>
          <a:p>
            <a:pPr algn="ctr">
              <a:lnSpc>
                <a:spcPts val="7199"/>
              </a:lnSpc>
            </a:pPr>
            <a:r>
              <a:rPr lang="en-US" sz="5999">
                <a:solidFill>
                  <a:srgbClr val="000000"/>
                </a:solidFill>
                <a:latin typeface="Trebuchet MS"/>
                <a:ea typeface="Trebuchet MS"/>
                <a:cs typeface="Trebuchet MS"/>
                <a:sym typeface="Trebuchet MS"/>
              </a:rPr>
              <a:t>STEGANOGRAPHY IN ACTION- IMAGE STEGANOGRAPHY</a:t>
            </a:r>
          </a:p>
        </p:txBody>
      </p:sp>
      <p:sp>
        <p:nvSpPr>
          <p:cNvPr name="TextBox 44" id="44"/>
          <p:cNvSpPr txBox="true"/>
          <p:nvPr/>
        </p:nvSpPr>
        <p:spPr>
          <a:xfrm rot="0">
            <a:off x="2168289" y="4899025"/>
            <a:ext cx="8755532" cy="466725"/>
          </a:xfrm>
          <a:prstGeom prst="rect">
            <a:avLst/>
          </a:prstGeom>
        </p:spPr>
        <p:txBody>
          <a:bodyPr anchor="t" rtlCol="false" tIns="0" lIns="0" bIns="0" rIns="0">
            <a:spAutoFit/>
          </a:bodyPr>
          <a:lstStyle/>
          <a:p>
            <a:pPr algn="ctr">
              <a:lnSpc>
                <a:spcPts val="3600"/>
              </a:lnSpc>
            </a:pPr>
            <a:r>
              <a:rPr lang="en-US" sz="3000">
                <a:solidFill>
                  <a:srgbClr val="000000"/>
                </a:solidFill>
                <a:latin typeface="Trebuchet MS"/>
                <a:ea typeface="Trebuchet MS"/>
                <a:cs typeface="Trebuchet MS"/>
                <a:sym typeface="Trebuchet MS"/>
              </a:rPr>
              <a:t>BY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1993526" y="4396251"/>
            <a:ext cx="4141137" cy="4896614"/>
            <a:chOff x="0" y="0"/>
            <a:chExt cx="5521516" cy="6528818"/>
          </a:xfrm>
        </p:grpSpPr>
        <p:sp>
          <p:nvSpPr>
            <p:cNvPr name="Freeform 36" id="36"/>
            <p:cNvSpPr/>
            <p:nvPr/>
          </p:nvSpPr>
          <p:spPr>
            <a:xfrm flipH="false" flipV="false" rot="0">
              <a:off x="0" y="0"/>
              <a:ext cx="5521579" cy="6528816"/>
            </a:xfrm>
            <a:custGeom>
              <a:avLst/>
              <a:gdLst/>
              <a:ahLst/>
              <a:cxnLst/>
              <a:rect r="r" b="b" t="t" l="l"/>
              <a:pathLst>
                <a:path h="6528816" w="5521579">
                  <a:moveTo>
                    <a:pt x="0" y="0"/>
                  </a:moveTo>
                  <a:lnTo>
                    <a:pt x="5521579" y="0"/>
                  </a:lnTo>
                  <a:lnTo>
                    <a:pt x="5521579" y="6528816"/>
                  </a:lnTo>
                  <a:lnTo>
                    <a:pt x="0" y="6528816"/>
                  </a:lnTo>
                  <a:lnTo>
                    <a:pt x="0" y="0"/>
                  </a:lnTo>
                  <a:close/>
                </a:path>
              </a:pathLst>
            </a:custGeom>
            <a:blipFill>
              <a:blip r:embed="rId2"/>
              <a:stretch>
                <a:fillRect l="0" t="0" r="1" b="0"/>
              </a:stretch>
            </a:blipFill>
          </p:spPr>
        </p:sp>
      </p:grpSp>
      <p:grpSp>
        <p:nvGrpSpPr>
          <p:cNvPr name="Group 37" id="37"/>
          <p:cNvGrpSpPr>
            <a:grpSpLocks noChangeAspect="true"/>
          </p:cNvGrpSpPr>
          <p:nvPr/>
        </p:nvGrpSpPr>
        <p:grpSpPr>
          <a:xfrm rot="0">
            <a:off x="1013936" y="9707880"/>
            <a:ext cx="3214688" cy="289560"/>
            <a:chOff x="0" y="0"/>
            <a:chExt cx="4286250" cy="386080"/>
          </a:xfrm>
        </p:grpSpPr>
        <p:sp>
          <p:nvSpPr>
            <p:cNvPr name="Freeform 38" id="38"/>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3"/>
              <a:stretch>
                <a:fillRect l="0" t="-2518486" r="-135857" b="0"/>
              </a:stretch>
            </a:blipFill>
          </p:spPr>
        </p:sp>
      </p:grpSp>
      <p:grpSp>
        <p:nvGrpSpPr>
          <p:cNvPr name="Group 39" id="39"/>
          <p:cNvGrpSpPr/>
          <p:nvPr/>
        </p:nvGrpSpPr>
        <p:grpSpPr>
          <a:xfrm rot="0">
            <a:off x="376776" y="462554"/>
            <a:ext cx="12574048" cy="8830310"/>
            <a:chOff x="0" y="0"/>
            <a:chExt cx="3311683" cy="2325678"/>
          </a:xfrm>
        </p:grpSpPr>
        <p:sp>
          <p:nvSpPr>
            <p:cNvPr name="Freeform 40" id="40"/>
            <p:cNvSpPr/>
            <p:nvPr/>
          </p:nvSpPr>
          <p:spPr>
            <a:xfrm flipH="false" flipV="false" rot="0">
              <a:off x="0" y="0"/>
              <a:ext cx="3311684" cy="2325678"/>
            </a:xfrm>
            <a:custGeom>
              <a:avLst/>
              <a:gdLst/>
              <a:ahLst/>
              <a:cxnLst/>
              <a:rect r="r" b="b" t="t" l="l"/>
              <a:pathLst>
                <a:path h="2325678" w="3311684">
                  <a:moveTo>
                    <a:pt x="31401" y="0"/>
                  </a:moveTo>
                  <a:lnTo>
                    <a:pt x="3280282" y="0"/>
                  </a:lnTo>
                  <a:cubicBezTo>
                    <a:pt x="3297625" y="0"/>
                    <a:pt x="3311684" y="14059"/>
                    <a:pt x="3311684" y="31401"/>
                  </a:cubicBezTo>
                  <a:lnTo>
                    <a:pt x="3311684" y="2294277"/>
                  </a:lnTo>
                  <a:cubicBezTo>
                    <a:pt x="3311684" y="2311620"/>
                    <a:pt x="3297625" y="2325678"/>
                    <a:pt x="3280282" y="2325678"/>
                  </a:cubicBezTo>
                  <a:lnTo>
                    <a:pt x="31401" y="2325678"/>
                  </a:lnTo>
                  <a:cubicBezTo>
                    <a:pt x="14059" y="2325678"/>
                    <a:pt x="0" y="2311620"/>
                    <a:pt x="0" y="2294277"/>
                  </a:cubicBezTo>
                  <a:lnTo>
                    <a:pt x="0" y="31401"/>
                  </a:lnTo>
                  <a:cubicBezTo>
                    <a:pt x="0" y="14059"/>
                    <a:pt x="14059" y="0"/>
                    <a:pt x="31401" y="0"/>
                  </a:cubicBezTo>
                  <a:close/>
                </a:path>
              </a:pathLst>
            </a:custGeom>
            <a:gradFill rotWithShape="true">
              <a:gsLst>
                <a:gs pos="0">
                  <a:srgbClr val="CDFFD8">
                    <a:alpha val="50000"/>
                  </a:srgbClr>
                </a:gs>
                <a:gs pos="100000">
                  <a:srgbClr val="94B9FF">
                    <a:alpha val="50000"/>
                  </a:srgbClr>
                </a:gs>
              </a:gsLst>
              <a:lin ang="0"/>
            </a:gradFill>
          </p:spPr>
        </p:sp>
        <p:sp>
          <p:nvSpPr>
            <p:cNvPr name="TextBox 41" id="41"/>
            <p:cNvSpPr txBox="true"/>
            <p:nvPr/>
          </p:nvSpPr>
          <p:spPr>
            <a:xfrm>
              <a:off x="0" y="-9525"/>
              <a:ext cx="3311683" cy="2335203"/>
            </a:xfrm>
            <a:prstGeom prst="rect">
              <a:avLst/>
            </a:prstGeom>
          </p:spPr>
          <p:txBody>
            <a:bodyPr anchor="ctr" rtlCol="false" tIns="50800" lIns="50800" bIns="50800" rIns="50800"/>
            <a:lstStyle/>
            <a:p>
              <a:pPr algn="ctr">
                <a:lnSpc>
                  <a:spcPts val="1980"/>
                </a:lnSpc>
              </a:pPr>
            </a:p>
          </p:txBody>
        </p:sp>
      </p:grpSp>
      <p:grpSp>
        <p:nvGrpSpPr>
          <p:cNvPr name="Group 42" id="42"/>
          <p:cNvGrpSpPr/>
          <p:nvPr/>
        </p:nvGrpSpPr>
        <p:grpSpPr>
          <a:xfrm rot="0">
            <a:off x="1065085" y="3425201"/>
            <a:ext cx="10652216" cy="5189197"/>
            <a:chOff x="0" y="0"/>
            <a:chExt cx="14202954" cy="6918930"/>
          </a:xfrm>
        </p:grpSpPr>
        <p:sp>
          <p:nvSpPr>
            <p:cNvPr name="TextBox 43" id="43"/>
            <p:cNvSpPr txBox="true"/>
            <p:nvPr/>
          </p:nvSpPr>
          <p:spPr>
            <a:xfrm rot="0">
              <a:off x="579068" y="420990"/>
              <a:ext cx="13044818" cy="6010275"/>
            </a:xfrm>
            <a:prstGeom prst="rect">
              <a:avLst/>
            </a:prstGeom>
          </p:spPr>
          <p:txBody>
            <a:bodyPr anchor="t" rtlCol="false" tIns="0" lIns="0" bIns="0" rIns="0">
              <a:spAutoFit/>
            </a:bodyPr>
            <a:lstStyle/>
            <a:p>
              <a:pPr algn="ctr">
                <a:lnSpc>
                  <a:spcPts val="3959"/>
                </a:lnSpc>
                <a:spcBef>
                  <a:spcPct val="0"/>
                </a:spcBef>
              </a:pPr>
              <a:r>
                <a:rPr lang="en-US" sz="3299">
                  <a:solidFill>
                    <a:srgbClr val="000000"/>
                  </a:solidFill>
                  <a:latin typeface="Times New Roman MT"/>
                  <a:ea typeface="Times New Roman MT"/>
                  <a:cs typeface="Times New Roman MT"/>
                  <a:sym typeface="Times New Roman MT"/>
                </a:rPr>
                <a:t>Sensitive inf</a:t>
              </a:r>
              <a:r>
                <a:rPr lang="en-US" sz="3299">
                  <a:solidFill>
                    <a:srgbClr val="000000"/>
                  </a:solidFill>
                  <a:latin typeface="Times New Roman MT"/>
                  <a:ea typeface="Times New Roman MT"/>
                  <a:cs typeface="Times New Roman MT"/>
                  <a:sym typeface="Times New Roman MT"/>
                </a:rPr>
                <a:t>ormation often needs to be communicated discreetly across public channels, but traditional encryption makes this very act of communication noticeable, raising suspicion and potentially flagging the message for interception. Therefore, a proper solution must be found to securely transmit data such that its existence is completely concealed, making the communication seem innocuous and undetectable by a third party. </a:t>
              </a:r>
            </a:p>
          </p:txBody>
        </p:sp>
        <p:grpSp>
          <p:nvGrpSpPr>
            <p:cNvPr name="Group 44" id="44"/>
            <p:cNvGrpSpPr/>
            <p:nvPr/>
          </p:nvGrpSpPr>
          <p:grpSpPr>
            <a:xfrm rot="0">
              <a:off x="0" y="0"/>
              <a:ext cx="14202954" cy="6918930"/>
              <a:chOff x="0" y="0"/>
              <a:chExt cx="2805522" cy="1366702"/>
            </a:xfrm>
          </p:grpSpPr>
          <p:sp>
            <p:nvSpPr>
              <p:cNvPr name="Freeform 45" id="45"/>
              <p:cNvSpPr/>
              <p:nvPr/>
            </p:nvSpPr>
            <p:spPr>
              <a:xfrm flipH="false" flipV="false" rot="0">
                <a:off x="0" y="0"/>
                <a:ext cx="2805522" cy="1366702"/>
              </a:xfrm>
              <a:custGeom>
                <a:avLst/>
                <a:gdLst/>
                <a:ahLst/>
                <a:cxnLst/>
                <a:rect r="r" b="b" t="t" l="l"/>
                <a:pathLst>
                  <a:path h="1366702" w="2805522">
                    <a:moveTo>
                      <a:pt x="37066" y="0"/>
                    </a:moveTo>
                    <a:lnTo>
                      <a:pt x="2768455" y="0"/>
                    </a:lnTo>
                    <a:cubicBezTo>
                      <a:pt x="2788927" y="0"/>
                      <a:pt x="2805522" y="16595"/>
                      <a:pt x="2805522" y="37066"/>
                    </a:cubicBezTo>
                    <a:lnTo>
                      <a:pt x="2805522" y="1329636"/>
                    </a:lnTo>
                    <a:cubicBezTo>
                      <a:pt x="2805522" y="1339466"/>
                      <a:pt x="2801617" y="1348894"/>
                      <a:pt x="2794665" y="1355846"/>
                    </a:cubicBezTo>
                    <a:cubicBezTo>
                      <a:pt x="2787714" y="1362797"/>
                      <a:pt x="2778286" y="1366702"/>
                      <a:pt x="2768455" y="1366702"/>
                    </a:cubicBezTo>
                    <a:lnTo>
                      <a:pt x="37066" y="1366702"/>
                    </a:lnTo>
                    <a:cubicBezTo>
                      <a:pt x="27236" y="1366702"/>
                      <a:pt x="17808" y="1362797"/>
                      <a:pt x="10856" y="1355846"/>
                    </a:cubicBezTo>
                    <a:cubicBezTo>
                      <a:pt x="3905" y="1348894"/>
                      <a:pt x="0" y="1339466"/>
                      <a:pt x="0" y="1329636"/>
                    </a:cubicBezTo>
                    <a:lnTo>
                      <a:pt x="0" y="37066"/>
                    </a:lnTo>
                    <a:cubicBezTo>
                      <a:pt x="0" y="27236"/>
                      <a:pt x="3905" y="17808"/>
                      <a:pt x="10856" y="10856"/>
                    </a:cubicBezTo>
                    <a:cubicBezTo>
                      <a:pt x="17808" y="3905"/>
                      <a:pt x="27236" y="0"/>
                      <a:pt x="37066" y="0"/>
                    </a:cubicBezTo>
                    <a:close/>
                  </a:path>
                </a:pathLst>
              </a:custGeom>
              <a:solidFill>
                <a:srgbClr val="000000">
                  <a:alpha val="0"/>
                </a:srgbClr>
              </a:solidFill>
              <a:ln w="38100" cap="rnd">
                <a:solidFill>
                  <a:srgbClr val="000000"/>
                </a:solidFill>
                <a:prstDash val="solid"/>
                <a:round/>
              </a:ln>
            </p:spPr>
          </p:sp>
          <p:sp>
            <p:nvSpPr>
              <p:cNvPr name="TextBox 46" id="46"/>
              <p:cNvSpPr txBox="true"/>
              <p:nvPr/>
            </p:nvSpPr>
            <p:spPr>
              <a:xfrm>
                <a:off x="0" y="-38100"/>
                <a:ext cx="2805522" cy="1404802"/>
              </a:xfrm>
              <a:prstGeom prst="rect">
                <a:avLst/>
              </a:prstGeom>
            </p:spPr>
            <p:txBody>
              <a:bodyPr anchor="ctr" rtlCol="false" tIns="50800" lIns="50800" bIns="50800" rIns="50800"/>
              <a:lstStyle/>
              <a:p>
                <a:pPr algn="ctr">
                  <a:lnSpc>
                    <a:spcPts val="1980"/>
                  </a:lnSpc>
                </a:pPr>
              </a:p>
            </p:txBody>
          </p:sp>
        </p:grpSp>
      </p:grpSp>
      <p:sp>
        <p:nvSpPr>
          <p:cNvPr name="TextBox 47" id="47"/>
          <p:cNvSpPr txBox="true"/>
          <p:nvPr/>
        </p:nvSpPr>
        <p:spPr>
          <a:xfrm rot="0">
            <a:off x="1223343" y="861821"/>
            <a:ext cx="10310526" cy="1103252"/>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633959" y="502181"/>
            <a:ext cx="14374851" cy="9205700"/>
            <a:chOff x="0" y="0"/>
            <a:chExt cx="3785969" cy="2424546"/>
          </a:xfrm>
        </p:grpSpPr>
        <p:sp>
          <p:nvSpPr>
            <p:cNvPr name="Freeform 34" id="34"/>
            <p:cNvSpPr/>
            <p:nvPr/>
          </p:nvSpPr>
          <p:spPr>
            <a:xfrm flipH="false" flipV="false" rot="0">
              <a:off x="0" y="0"/>
              <a:ext cx="3785969" cy="2424546"/>
            </a:xfrm>
            <a:custGeom>
              <a:avLst/>
              <a:gdLst/>
              <a:ahLst/>
              <a:cxnLst/>
              <a:rect r="r" b="b" t="t" l="l"/>
              <a:pathLst>
                <a:path h="2424546" w="3785969">
                  <a:moveTo>
                    <a:pt x="27467" y="0"/>
                  </a:moveTo>
                  <a:lnTo>
                    <a:pt x="3758502" y="0"/>
                  </a:lnTo>
                  <a:cubicBezTo>
                    <a:pt x="3765786" y="0"/>
                    <a:pt x="3772773" y="2894"/>
                    <a:pt x="3777924" y="8045"/>
                  </a:cubicBezTo>
                  <a:cubicBezTo>
                    <a:pt x="3783075" y="13196"/>
                    <a:pt x="3785969" y="20182"/>
                    <a:pt x="3785969" y="27467"/>
                  </a:cubicBezTo>
                  <a:lnTo>
                    <a:pt x="3785969" y="2397079"/>
                  </a:lnTo>
                  <a:cubicBezTo>
                    <a:pt x="3785969" y="2412249"/>
                    <a:pt x="3773671" y="2424546"/>
                    <a:pt x="3758502" y="2424546"/>
                  </a:cubicBezTo>
                  <a:lnTo>
                    <a:pt x="27467" y="2424546"/>
                  </a:lnTo>
                  <a:cubicBezTo>
                    <a:pt x="12298" y="2424546"/>
                    <a:pt x="0" y="2412249"/>
                    <a:pt x="0" y="2397079"/>
                  </a:cubicBezTo>
                  <a:lnTo>
                    <a:pt x="0" y="27467"/>
                  </a:lnTo>
                  <a:cubicBezTo>
                    <a:pt x="0" y="20182"/>
                    <a:pt x="2894" y="13196"/>
                    <a:pt x="8045" y="8045"/>
                  </a:cubicBezTo>
                  <a:cubicBezTo>
                    <a:pt x="13196" y="2894"/>
                    <a:pt x="20182" y="0"/>
                    <a:pt x="27467" y="0"/>
                  </a:cubicBezTo>
                  <a:close/>
                </a:path>
              </a:pathLst>
            </a:custGeom>
            <a:gradFill rotWithShape="true">
              <a:gsLst>
                <a:gs pos="0">
                  <a:srgbClr val="CDFFD8">
                    <a:alpha val="50000"/>
                  </a:srgbClr>
                </a:gs>
                <a:gs pos="100000">
                  <a:srgbClr val="94B9FF">
                    <a:alpha val="50000"/>
                  </a:srgbClr>
                </a:gs>
              </a:gsLst>
              <a:lin ang="0"/>
            </a:gradFill>
          </p:spPr>
        </p:sp>
        <p:sp>
          <p:nvSpPr>
            <p:cNvPr name="TextBox 35" id="35"/>
            <p:cNvSpPr txBox="true"/>
            <p:nvPr/>
          </p:nvSpPr>
          <p:spPr>
            <a:xfrm>
              <a:off x="0" y="-9525"/>
              <a:ext cx="3785969" cy="2434071"/>
            </a:xfrm>
            <a:prstGeom prst="rect">
              <a:avLst/>
            </a:prstGeom>
          </p:spPr>
          <p:txBody>
            <a:bodyPr anchor="ctr" rtlCol="false" tIns="50800" lIns="50800" bIns="50800" rIns="50800"/>
            <a:lstStyle/>
            <a:p>
              <a:pPr algn="ctr">
                <a:lnSpc>
                  <a:spcPts val="1980"/>
                </a:lnSpc>
              </a:pPr>
            </a:p>
          </p:txBody>
        </p:sp>
      </p:grpSp>
      <p:grpSp>
        <p:nvGrpSpPr>
          <p:cNvPr name="Group 36" id="36"/>
          <p:cNvGrpSpPr/>
          <p:nvPr/>
        </p:nvGrpSpPr>
        <p:grpSpPr>
          <a:xfrm rot="0">
            <a:off x="14031686" y="8846607"/>
            <a:ext cx="269965" cy="269966"/>
            <a:chOff x="0" y="0"/>
            <a:chExt cx="359954" cy="359954"/>
          </a:xfrm>
        </p:grpSpPr>
        <p:sp>
          <p:nvSpPr>
            <p:cNvPr name="Freeform 37" id="37"/>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sp>
        <p:nvSpPr>
          <p:cNvPr name="TextBox 38" id="38"/>
          <p:cNvSpPr txBox="true"/>
          <p:nvPr/>
        </p:nvSpPr>
        <p:spPr>
          <a:xfrm rot="0">
            <a:off x="1082038" y="817970"/>
            <a:ext cx="8061962" cy="1971675"/>
          </a:xfrm>
          <a:prstGeom prst="rect">
            <a:avLst/>
          </a:prstGeom>
        </p:spPr>
        <p:txBody>
          <a:bodyPr anchor="t" rtlCol="false" tIns="0" lIns="0" bIns="0" rIns="0">
            <a:spAutoFit/>
          </a:bodyPr>
          <a:lstStyle/>
          <a:p>
            <a:pPr algn="l">
              <a:lnSpc>
                <a:spcPts val="7776"/>
              </a:lnSpc>
            </a:pPr>
            <a:r>
              <a:rPr lang="en-US" sz="6480" b="true">
                <a:solidFill>
                  <a:srgbClr val="000000"/>
                </a:solidFill>
                <a:latin typeface="Trebuchet MS Bold"/>
                <a:ea typeface="Trebuchet MS Bold"/>
                <a:cs typeface="Trebuchet MS Bold"/>
                <a:sym typeface="Trebuchet MS Bold"/>
              </a:rPr>
              <a:t>Project Description</a:t>
            </a:r>
          </a:p>
          <a:p>
            <a:pPr algn="l">
              <a:lnSpc>
                <a:spcPts val="7776"/>
              </a:lnSpc>
            </a:pPr>
          </a:p>
        </p:txBody>
      </p:sp>
      <p:grpSp>
        <p:nvGrpSpPr>
          <p:cNvPr name="Group 39" id="39"/>
          <p:cNvGrpSpPr>
            <a:grpSpLocks noChangeAspect="true"/>
          </p:cNvGrpSpPr>
          <p:nvPr/>
        </p:nvGrpSpPr>
        <p:grpSpPr>
          <a:xfrm rot="0">
            <a:off x="1013936" y="9707880"/>
            <a:ext cx="3214688" cy="289560"/>
            <a:chOff x="0" y="0"/>
            <a:chExt cx="4286250" cy="386080"/>
          </a:xfrm>
        </p:grpSpPr>
        <p:sp>
          <p:nvSpPr>
            <p:cNvPr name="Freeform 40" id="40"/>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TextBox 41" id="41"/>
          <p:cNvSpPr txBox="true"/>
          <p:nvPr/>
        </p:nvSpPr>
        <p:spPr>
          <a:xfrm rot="0">
            <a:off x="1028700" y="2343150"/>
            <a:ext cx="13500387" cy="1495425"/>
          </a:xfrm>
          <a:prstGeom prst="rect">
            <a:avLst/>
          </a:prstGeom>
        </p:spPr>
        <p:txBody>
          <a:bodyPr anchor="t" rtlCol="false" tIns="0" lIns="0" bIns="0" rIns="0">
            <a:spAutoFit/>
          </a:bodyPr>
          <a:lstStyle/>
          <a:p>
            <a:pPr algn="ctr">
              <a:lnSpc>
                <a:spcPts val="2879"/>
              </a:lnSpc>
              <a:spcBef>
                <a:spcPct val="0"/>
              </a:spcBef>
            </a:pPr>
            <a:r>
              <a:rPr lang="en-US" sz="2399">
                <a:solidFill>
                  <a:srgbClr val="000000"/>
                </a:solidFill>
                <a:latin typeface="Times New Roman MT"/>
                <a:ea typeface="Times New Roman MT"/>
                <a:cs typeface="Times New Roman MT"/>
                <a:sym typeface="Times New Roman MT"/>
              </a:rPr>
              <a:t>This image steganography web app is a simple, client-side web application f</a:t>
            </a:r>
            <a:r>
              <a:rPr lang="en-US" sz="2399">
                <a:solidFill>
                  <a:srgbClr val="000000"/>
                </a:solidFill>
                <a:latin typeface="Times New Roman MT"/>
                <a:ea typeface="Times New Roman MT"/>
                <a:cs typeface="Times New Roman MT"/>
                <a:sym typeface="Times New Roman MT"/>
              </a:rPr>
              <a:t>or hiding and revealing secret text messages within and from images respectively using </a:t>
            </a:r>
            <a:r>
              <a:rPr lang="en-US" b="true" sz="2399">
                <a:solidFill>
                  <a:srgbClr val="000000"/>
                </a:solidFill>
                <a:latin typeface="Times New Roman MT Bold"/>
                <a:ea typeface="Times New Roman MT Bold"/>
                <a:cs typeface="Times New Roman MT Bold"/>
                <a:sym typeface="Times New Roman MT Bold"/>
              </a:rPr>
              <a:t>LSB (Least Significant Bit)</a:t>
            </a:r>
            <a:r>
              <a:rPr lang="en-US" sz="2399">
                <a:solidFill>
                  <a:srgbClr val="000000"/>
                </a:solidFill>
                <a:latin typeface="Times New Roman MT"/>
                <a:ea typeface="Times New Roman MT"/>
                <a:cs typeface="Times New Roman MT"/>
                <a:sym typeface="Times New Roman MT"/>
              </a:rPr>
              <a:t> </a:t>
            </a:r>
            <a:r>
              <a:rPr lang="en-US" b="true" sz="2399">
                <a:solidFill>
                  <a:srgbClr val="000000"/>
                </a:solidFill>
                <a:latin typeface="Times New Roman MT Bold"/>
                <a:ea typeface="Times New Roman MT Bold"/>
                <a:cs typeface="Times New Roman MT Bold"/>
                <a:sym typeface="Times New Roman MT Bold"/>
              </a:rPr>
              <a:t>steganography</a:t>
            </a:r>
            <a:r>
              <a:rPr lang="en-US" sz="2399">
                <a:solidFill>
                  <a:srgbClr val="000000"/>
                </a:solidFill>
                <a:latin typeface="Times New Roman MT"/>
                <a:ea typeface="Times New Roman MT"/>
                <a:cs typeface="Times New Roman MT"/>
                <a:sym typeface="Times New Roman MT"/>
              </a:rPr>
              <a:t>. This tool allows users to embed messages in PNG, JPG, or JPEG images and retrieve them securely, with optional password protection.</a:t>
            </a:r>
          </a:p>
        </p:txBody>
      </p:sp>
      <p:sp>
        <p:nvSpPr>
          <p:cNvPr name="TextBox 42" id="42"/>
          <p:cNvSpPr txBox="true"/>
          <p:nvPr/>
        </p:nvSpPr>
        <p:spPr>
          <a:xfrm rot="0">
            <a:off x="990594" y="4229100"/>
            <a:ext cx="13376463" cy="5029200"/>
          </a:xfrm>
          <a:prstGeom prst="rect">
            <a:avLst/>
          </a:prstGeom>
        </p:spPr>
        <p:txBody>
          <a:bodyPr anchor="t" rtlCol="false" tIns="0" lIns="0" bIns="0" rIns="0">
            <a:spAutoFit/>
          </a:bodyPr>
          <a:lstStyle/>
          <a:p>
            <a:pPr algn="l">
              <a:lnSpc>
                <a:spcPts val="3119"/>
              </a:lnSpc>
            </a:pPr>
            <a:r>
              <a:rPr lang="en-US" sz="2599" b="true">
                <a:solidFill>
                  <a:srgbClr val="000000"/>
                </a:solidFill>
                <a:latin typeface="Times New Roman MT Bold"/>
                <a:ea typeface="Times New Roman MT Bold"/>
                <a:cs typeface="Times New Roman MT Bold"/>
                <a:sym typeface="Times New Roman MT Bold"/>
              </a:rPr>
              <a:t>LOGIC AND ALGORITHMS</a:t>
            </a:r>
          </a:p>
          <a:p>
            <a:pPr algn="l">
              <a:lnSpc>
                <a:spcPts val="1920"/>
              </a:lnSpc>
            </a:pP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Stegan</a:t>
            </a:r>
            <a:r>
              <a:rPr lang="en-US" b="true" sz="2399">
                <a:solidFill>
                  <a:srgbClr val="000000"/>
                </a:solidFill>
                <a:latin typeface="Times New Roman MT Bold"/>
                <a:ea typeface="Times New Roman MT Bold"/>
                <a:cs typeface="Times New Roman MT Bold"/>
                <a:sym typeface="Times New Roman MT Bold"/>
              </a:rPr>
              <a:t>ography Method:</a:t>
            </a:r>
            <a:r>
              <a:rPr lang="en-US" sz="2399">
                <a:solidFill>
                  <a:srgbClr val="000000"/>
                </a:solidFill>
                <a:latin typeface="Times New Roman MT"/>
                <a:ea typeface="Times New Roman MT"/>
                <a:cs typeface="Times New Roman MT"/>
                <a:sym typeface="Times New Roman MT"/>
              </a:rPr>
              <a:t> Least Significant Bit (LSB) substitution. The app modifies the least significant bits of the RGB channels in image pixels to encode binary data. This is imperceptible to the human eye but recoverable with the correct key.</a:t>
            </a: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Encryption:</a:t>
            </a:r>
            <a:r>
              <a:rPr lang="en-US" sz="2399">
                <a:solidFill>
                  <a:srgbClr val="000000"/>
                </a:solidFill>
                <a:latin typeface="Times New Roman MT"/>
                <a:ea typeface="Times New Roman MT"/>
                <a:cs typeface="Times New Roman MT"/>
                <a:sym typeface="Times New Roman MT"/>
              </a:rPr>
              <a:t> Optional XOR (exclusive OR) encryption with a user-provided key. The key is repeated cyclically to match the message length. If no key is provided, the message is hidden in plain binary.</a:t>
            </a: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Hiding:</a:t>
            </a:r>
            <a:r>
              <a:rPr lang="en-US" sz="2399">
                <a:solidFill>
                  <a:srgbClr val="000000"/>
                </a:solidFill>
                <a:latin typeface="Times New Roman MT"/>
                <a:ea typeface="Times New Roman MT"/>
                <a:cs typeface="Times New Roman MT"/>
                <a:sym typeface="Times New Roman MT"/>
              </a:rPr>
              <a:t> Prepends a 32-bit binary length prefix to the message, encrypts the whole with XOR, and embeds it in LSBs.</a:t>
            </a: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Revealing:</a:t>
            </a:r>
            <a:r>
              <a:rPr lang="en-US" sz="2399">
                <a:solidFill>
                  <a:srgbClr val="000000"/>
                </a:solidFill>
                <a:latin typeface="Times New Roman MT"/>
                <a:ea typeface="Times New Roman MT"/>
                <a:cs typeface="Times New Roman MT"/>
                <a:sym typeface="Times New Roman MT"/>
              </a:rPr>
              <a:t> Extracts LSBs, decrypts with XOR, reads the length prefix, and slices the exact message.</a:t>
            </a:r>
          </a:p>
          <a:p>
            <a:pPr algn="l" marL="518157" indent="-259078" lvl="1">
              <a:lnSpc>
                <a:spcPts val="2879"/>
              </a:lnSpc>
              <a:spcBef>
                <a:spcPct val="0"/>
              </a:spcBef>
              <a:buFont typeface="Arial"/>
              <a:buChar char="•"/>
            </a:pPr>
            <a:r>
              <a:rPr lang="en-US" sz="2399">
                <a:solidFill>
                  <a:srgbClr val="000000"/>
                </a:solidFill>
                <a:latin typeface="Times New Roman MT"/>
                <a:ea typeface="Times New Roman MT"/>
                <a:cs typeface="Times New Roman MT"/>
                <a:sym typeface="Times New Roman MT"/>
              </a:rPr>
              <a:t>Capacity Check: Ensures the image has enough pixels (3 bits per pixel) to hold the data; alerts if the message is too long.</a:t>
            </a:r>
          </a:p>
          <a:p>
            <a:pPr algn="l" marL="518157" indent="-259078" lvl="1">
              <a:lnSpc>
                <a:spcPts val="2879"/>
              </a:lnSpc>
              <a:spcBef>
                <a:spcPct val="0"/>
              </a:spcBef>
              <a:buFont typeface="Arial"/>
              <a:buChar char="•"/>
            </a:pPr>
            <a:r>
              <a:rPr lang="en-US" b="true" sz="2399">
                <a:solidFill>
                  <a:srgbClr val="000000"/>
                </a:solidFill>
                <a:latin typeface="Times New Roman MT Bold"/>
                <a:ea typeface="Times New Roman MT Bold"/>
                <a:cs typeface="Times New Roman MT Bold"/>
                <a:sym typeface="Times New Roman MT Bold"/>
              </a:rPr>
              <a:t>Error Detection:</a:t>
            </a:r>
            <a:r>
              <a:rPr lang="en-US" sz="2399">
                <a:solidFill>
                  <a:srgbClr val="000000"/>
                </a:solidFill>
                <a:latin typeface="Times New Roman MT"/>
                <a:ea typeface="Times New Roman MT"/>
                <a:cs typeface="Times New Roman MT"/>
                <a:sym typeface="Times New Roman MT"/>
              </a:rPr>
              <a:t> Validates extracted data; shows errors for wrong keys, corrupted images, or insufficient data.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p:nvPr/>
        </p:nvGrpSpPr>
        <p:grpSpPr>
          <a:xfrm rot="0">
            <a:off x="673099" y="362659"/>
            <a:ext cx="14374851" cy="9205700"/>
            <a:chOff x="0" y="0"/>
            <a:chExt cx="3785969" cy="2424546"/>
          </a:xfrm>
        </p:grpSpPr>
        <p:sp>
          <p:nvSpPr>
            <p:cNvPr name="Freeform 36" id="36"/>
            <p:cNvSpPr/>
            <p:nvPr/>
          </p:nvSpPr>
          <p:spPr>
            <a:xfrm flipH="false" flipV="false" rot="0">
              <a:off x="0" y="0"/>
              <a:ext cx="3785969" cy="2424546"/>
            </a:xfrm>
            <a:custGeom>
              <a:avLst/>
              <a:gdLst/>
              <a:ahLst/>
              <a:cxnLst/>
              <a:rect r="r" b="b" t="t" l="l"/>
              <a:pathLst>
                <a:path h="2424546" w="3785969">
                  <a:moveTo>
                    <a:pt x="27467" y="0"/>
                  </a:moveTo>
                  <a:lnTo>
                    <a:pt x="3758502" y="0"/>
                  </a:lnTo>
                  <a:cubicBezTo>
                    <a:pt x="3765786" y="0"/>
                    <a:pt x="3772773" y="2894"/>
                    <a:pt x="3777924" y="8045"/>
                  </a:cubicBezTo>
                  <a:cubicBezTo>
                    <a:pt x="3783075" y="13196"/>
                    <a:pt x="3785969" y="20182"/>
                    <a:pt x="3785969" y="27467"/>
                  </a:cubicBezTo>
                  <a:lnTo>
                    <a:pt x="3785969" y="2397079"/>
                  </a:lnTo>
                  <a:cubicBezTo>
                    <a:pt x="3785969" y="2412249"/>
                    <a:pt x="3773671" y="2424546"/>
                    <a:pt x="3758502" y="2424546"/>
                  </a:cubicBezTo>
                  <a:lnTo>
                    <a:pt x="27467" y="2424546"/>
                  </a:lnTo>
                  <a:cubicBezTo>
                    <a:pt x="12298" y="2424546"/>
                    <a:pt x="0" y="2412249"/>
                    <a:pt x="0" y="2397079"/>
                  </a:cubicBezTo>
                  <a:lnTo>
                    <a:pt x="0" y="27467"/>
                  </a:lnTo>
                  <a:cubicBezTo>
                    <a:pt x="0" y="20182"/>
                    <a:pt x="2894" y="13196"/>
                    <a:pt x="8045" y="8045"/>
                  </a:cubicBezTo>
                  <a:cubicBezTo>
                    <a:pt x="13196" y="2894"/>
                    <a:pt x="20182" y="0"/>
                    <a:pt x="27467" y="0"/>
                  </a:cubicBezTo>
                  <a:close/>
                </a:path>
              </a:pathLst>
            </a:custGeom>
            <a:gradFill rotWithShape="true">
              <a:gsLst>
                <a:gs pos="0">
                  <a:srgbClr val="CDFFD8">
                    <a:alpha val="50000"/>
                  </a:srgbClr>
                </a:gs>
                <a:gs pos="100000">
                  <a:srgbClr val="94B9FF">
                    <a:alpha val="50000"/>
                  </a:srgbClr>
                </a:gs>
              </a:gsLst>
              <a:lin ang="0"/>
            </a:gradFill>
          </p:spPr>
        </p:sp>
        <p:sp>
          <p:nvSpPr>
            <p:cNvPr name="TextBox 37" id="37"/>
            <p:cNvSpPr txBox="true"/>
            <p:nvPr/>
          </p:nvSpPr>
          <p:spPr>
            <a:xfrm>
              <a:off x="0" y="-9525"/>
              <a:ext cx="3785969" cy="2434071"/>
            </a:xfrm>
            <a:prstGeom prst="rect">
              <a:avLst/>
            </a:prstGeom>
          </p:spPr>
          <p:txBody>
            <a:bodyPr anchor="ctr" rtlCol="false" tIns="50800" lIns="50800" bIns="50800" rIns="50800"/>
            <a:lstStyle/>
            <a:p>
              <a:pPr algn="ctr">
                <a:lnSpc>
                  <a:spcPts val="1980"/>
                </a:lnSpc>
              </a:pPr>
            </a:p>
          </p:txBody>
        </p:sp>
      </p:grpSp>
      <p:sp>
        <p:nvSpPr>
          <p:cNvPr name="TextBox 38" id="38"/>
          <p:cNvSpPr txBox="true"/>
          <p:nvPr/>
        </p:nvSpPr>
        <p:spPr>
          <a:xfrm rot="0">
            <a:off x="957025" y="589587"/>
            <a:ext cx="14886225" cy="1122046"/>
          </a:xfrm>
          <a:prstGeom prst="rect">
            <a:avLst/>
          </a:prstGeom>
        </p:spPr>
        <p:txBody>
          <a:bodyPr anchor="t" rtlCol="false" tIns="0" lIns="0" bIns="0" rIns="0">
            <a:spAutoFit/>
          </a:bodyPr>
          <a:lstStyle/>
          <a:p>
            <a:pPr algn="l">
              <a:lnSpc>
                <a:spcPts val="5759"/>
              </a:lnSpc>
            </a:pPr>
            <a:r>
              <a:rPr lang="en-US" sz="4800" b="true">
                <a:solidFill>
                  <a:srgbClr val="000000"/>
                </a:solidFill>
                <a:latin typeface="Trebuchet MS Bold"/>
                <a:ea typeface="Trebuchet MS Bold"/>
                <a:cs typeface="Trebuchet MS Bold"/>
                <a:sym typeface="Trebuchet MS Bold"/>
              </a:rPr>
              <a:t>WHO ARE THE END USERS?</a:t>
            </a:r>
          </a:p>
        </p:txBody>
      </p:sp>
      <p:grpSp>
        <p:nvGrpSpPr>
          <p:cNvPr name="Group 39" id="39"/>
          <p:cNvGrpSpPr>
            <a:grpSpLocks noChangeAspect="true"/>
          </p:cNvGrpSpPr>
          <p:nvPr/>
        </p:nvGrpSpPr>
        <p:grpSpPr>
          <a:xfrm rot="0">
            <a:off x="1082038" y="9265206"/>
            <a:ext cx="3271838" cy="728662"/>
            <a:chOff x="0" y="0"/>
            <a:chExt cx="4362450" cy="971550"/>
          </a:xfrm>
        </p:grpSpPr>
        <p:sp>
          <p:nvSpPr>
            <p:cNvPr name="Freeform 40" id="40"/>
            <p:cNvSpPr/>
            <p:nvPr/>
          </p:nvSpPr>
          <p:spPr>
            <a:xfrm flipH="false" flipV="false" rot="0">
              <a:off x="0" y="0"/>
              <a:ext cx="4362450" cy="971550"/>
            </a:xfrm>
            <a:custGeom>
              <a:avLst/>
              <a:gdLst/>
              <a:ahLst/>
              <a:cxnLst/>
              <a:rect r="r" b="b" t="t" l="l"/>
              <a:pathLst>
                <a:path h="971550" w="4362450">
                  <a:moveTo>
                    <a:pt x="0" y="0"/>
                  </a:moveTo>
                  <a:lnTo>
                    <a:pt x="4362450" y="0"/>
                  </a:lnTo>
                  <a:lnTo>
                    <a:pt x="4362450" y="971550"/>
                  </a:lnTo>
                  <a:lnTo>
                    <a:pt x="0" y="971550"/>
                  </a:lnTo>
                  <a:lnTo>
                    <a:pt x="0" y="0"/>
                  </a:lnTo>
                  <a:close/>
                </a:path>
              </a:pathLst>
            </a:custGeom>
            <a:blipFill>
              <a:blip r:embed="rId2"/>
              <a:stretch>
                <a:fillRect l="0" t="0" r="0" b="0"/>
              </a:stretch>
            </a:blipFill>
          </p:spPr>
        </p:sp>
      </p:grpSp>
      <p:sp>
        <p:nvSpPr>
          <p:cNvPr name="TextBox 41" id="41"/>
          <p:cNvSpPr txBox="true"/>
          <p:nvPr/>
        </p:nvSpPr>
        <p:spPr>
          <a:xfrm rot="0">
            <a:off x="1098544" y="1884363"/>
            <a:ext cx="12004688" cy="7505700"/>
          </a:xfrm>
          <a:prstGeom prst="rect">
            <a:avLst/>
          </a:prstGeom>
        </p:spPr>
        <p:txBody>
          <a:bodyPr anchor="t" rtlCol="false" tIns="0" lIns="0" bIns="0" rIns="0">
            <a:spAutoFit/>
          </a:bodyPr>
          <a:lstStyle/>
          <a:p>
            <a:pPr algn="l">
              <a:lnSpc>
                <a:spcPts val="3719"/>
              </a:lnSpc>
            </a:pPr>
            <a:r>
              <a:rPr lang="en-US" sz="3099" b="true">
                <a:solidFill>
                  <a:srgbClr val="000000"/>
                </a:solidFill>
                <a:latin typeface="Times New Roman MT Bold"/>
                <a:ea typeface="Times New Roman MT Bold"/>
                <a:cs typeface="Times New Roman MT Bold"/>
                <a:sym typeface="Times New Roman MT Bold"/>
              </a:rPr>
              <a:t>POTENTIAL END USERS</a:t>
            </a:r>
          </a:p>
          <a:p>
            <a:pPr algn="l">
              <a:lnSpc>
                <a:spcPts val="2040"/>
              </a:lnSpc>
            </a:pPr>
          </a:p>
          <a:p>
            <a:pPr algn="l">
              <a:lnSpc>
                <a:spcPts val="3239"/>
              </a:lnSpc>
            </a:pPr>
            <a:r>
              <a:rPr lang="en-US" sz="2699">
                <a:solidFill>
                  <a:srgbClr val="000000"/>
                </a:solidFill>
                <a:latin typeface="Times New Roman MT"/>
                <a:ea typeface="Times New Roman MT"/>
                <a:cs typeface="Times New Roman MT"/>
                <a:sym typeface="Times New Roman MT"/>
              </a:rPr>
              <a:t>1. </a:t>
            </a:r>
            <a:r>
              <a:rPr lang="en-US" sz="2699" b="true">
                <a:solidFill>
                  <a:srgbClr val="000000"/>
                </a:solidFill>
                <a:latin typeface="Times New Roman MT Bold"/>
                <a:ea typeface="Times New Roman MT Bold"/>
                <a:cs typeface="Times New Roman MT Bold"/>
                <a:sym typeface="Times New Roman MT Bold"/>
              </a:rPr>
              <a:t>Privacy-conscious individuals (casual users):</a:t>
            </a:r>
            <a:r>
              <a:rPr lang="en-US" sz="2699">
                <a:solidFill>
                  <a:srgbClr val="000000"/>
                </a:solidFill>
                <a:latin typeface="Times New Roman MT"/>
                <a:ea typeface="Times New Roman MT"/>
                <a:cs typeface="Times New Roman MT"/>
                <a:sym typeface="Times New Roman MT"/>
              </a:rPr>
              <a:t> To send personal notes, sensitive passwords, or confidential account numbers to family, friends, or colleagues where a simple encrypted message might look suspicious.</a:t>
            </a:r>
          </a:p>
          <a:p>
            <a:pPr algn="l">
              <a:lnSpc>
                <a:spcPts val="1199"/>
              </a:lnSpc>
            </a:pPr>
          </a:p>
          <a:p>
            <a:pPr algn="l">
              <a:lnSpc>
                <a:spcPts val="3239"/>
              </a:lnSpc>
            </a:pPr>
            <a:r>
              <a:rPr lang="en-US" sz="2699">
                <a:solidFill>
                  <a:srgbClr val="000000"/>
                </a:solidFill>
                <a:latin typeface="Times New Roman MT"/>
                <a:ea typeface="Times New Roman MT"/>
                <a:cs typeface="Times New Roman MT"/>
                <a:sym typeface="Times New Roman MT"/>
              </a:rPr>
              <a:t>2. </a:t>
            </a:r>
            <a:r>
              <a:rPr lang="en-US" sz="2699" b="true">
                <a:solidFill>
                  <a:srgbClr val="000000"/>
                </a:solidFill>
                <a:latin typeface="Times New Roman MT Bold"/>
                <a:ea typeface="Times New Roman MT Bold"/>
                <a:cs typeface="Times New Roman MT Bold"/>
                <a:sym typeface="Times New Roman MT Bold"/>
              </a:rPr>
              <a:t>Digital artists and content creators:</a:t>
            </a:r>
            <a:r>
              <a:rPr lang="en-US" sz="2699">
                <a:solidFill>
                  <a:srgbClr val="000000"/>
                </a:solidFill>
                <a:latin typeface="Times New Roman MT"/>
                <a:ea typeface="Times New Roman MT"/>
                <a:cs typeface="Times New Roman MT"/>
                <a:sym typeface="Times New Roman MT"/>
              </a:rPr>
              <a:t> To apply a hidden watermark or copyright notice into an image before uploading it online, proving original ownership without visually cluttering the artwork.</a:t>
            </a:r>
          </a:p>
          <a:p>
            <a:pPr algn="l">
              <a:lnSpc>
                <a:spcPts val="1199"/>
              </a:lnSpc>
            </a:pPr>
          </a:p>
          <a:p>
            <a:pPr algn="l">
              <a:lnSpc>
                <a:spcPts val="3239"/>
              </a:lnSpc>
            </a:pPr>
            <a:r>
              <a:rPr lang="en-US" sz="2699">
                <a:solidFill>
                  <a:srgbClr val="000000"/>
                </a:solidFill>
                <a:latin typeface="Times New Roman MT"/>
                <a:ea typeface="Times New Roman MT"/>
                <a:cs typeface="Times New Roman MT"/>
                <a:sym typeface="Times New Roman MT"/>
              </a:rPr>
              <a:t>3. </a:t>
            </a:r>
            <a:r>
              <a:rPr lang="en-US" sz="2699" b="true">
                <a:solidFill>
                  <a:srgbClr val="000000"/>
                </a:solidFill>
                <a:latin typeface="Times New Roman MT Bold"/>
                <a:ea typeface="Times New Roman MT Bold"/>
                <a:cs typeface="Times New Roman MT Bold"/>
                <a:sym typeface="Times New Roman MT Bold"/>
              </a:rPr>
              <a:t>Journalists and activists (in low-risk scenarios):</a:t>
            </a:r>
            <a:r>
              <a:rPr lang="en-US" sz="2699">
                <a:solidFill>
                  <a:srgbClr val="000000"/>
                </a:solidFill>
                <a:latin typeface="Times New Roman MT"/>
                <a:ea typeface="Times New Roman MT"/>
                <a:cs typeface="Times New Roman MT"/>
                <a:sym typeface="Times New Roman MT"/>
              </a:rPr>
              <a:t> To discreetly share non-critical but sensitive information or meeting coordinates with sources or colleagues, making the communication appear as just an ordinary picture.</a:t>
            </a:r>
          </a:p>
          <a:p>
            <a:pPr algn="l">
              <a:lnSpc>
                <a:spcPts val="1199"/>
              </a:lnSpc>
              <a:spcBef>
                <a:spcPct val="0"/>
              </a:spcBef>
            </a:pPr>
          </a:p>
          <a:p>
            <a:pPr algn="l">
              <a:lnSpc>
                <a:spcPts val="3239"/>
              </a:lnSpc>
              <a:spcBef>
                <a:spcPct val="0"/>
              </a:spcBef>
            </a:pPr>
            <a:r>
              <a:rPr lang="en-US" sz="2699">
                <a:solidFill>
                  <a:srgbClr val="000000"/>
                </a:solidFill>
                <a:latin typeface="Times New Roman MT"/>
                <a:ea typeface="Times New Roman MT"/>
                <a:cs typeface="Times New Roman MT"/>
                <a:sym typeface="Times New Roman MT"/>
              </a:rPr>
              <a:t>4. </a:t>
            </a:r>
            <a:r>
              <a:rPr lang="en-US" b="true" sz="2699">
                <a:solidFill>
                  <a:srgbClr val="000000"/>
                </a:solidFill>
                <a:latin typeface="Times New Roman MT Bold"/>
                <a:ea typeface="Times New Roman MT Bold"/>
                <a:cs typeface="Times New Roman MT Bold"/>
                <a:sym typeface="Times New Roman MT Bold"/>
              </a:rPr>
              <a:t>Students learning about cybersecurity:</a:t>
            </a:r>
            <a:r>
              <a:rPr lang="en-US" sz="2699">
                <a:solidFill>
                  <a:srgbClr val="000000"/>
                </a:solidFill>
                <a:latin typeface="Times New Roman MT"/>
                <a:ea typeface="Times New Roman MT"/>
                <a:cs typeface="Times New Roman MT"/>
                <a:sym typeface="Times New Roman MT"/>
              </a:rPr>
              <a:t> To experiment and grasp the core concept of Least Significant Bit (LSB) substitution and how data can be concealed.</a:t>
            </a:r>
          </a:p>
          <a:p>
            <a:pPr algn="l">
              <a:lnSpc>
                <a:spcPts val="1199"/>
              </a:lnSpc>
              <a:spcBef>
                <a:spcPct val="0"/>
              </a:spcBef>
            </a:pPr>
          </a:p>
          <a:p>
            <a:pPr algn="l">
              <a:lnSpc>
                <a:spcPts val="3239"/>
              </a:lnSpc>
              <a:spcBef>
                <a:spcPct val="0"/>
              </a:spcBef>
            </a:pPr>
            <a:r>
              <a:rPr lang="en-US" sz="2699">
                <a:solidFill>
                  <a:srgbClr val="000000"/>
                </a:solidFill>
                <a:latin typeface="Times New Roman MT"/>
                <a:ea typeface="Times New Roman MT"/>
                <a:cs typeface="Times New Roman MT"/>
                <a:sym typeface="Times New Roman MT"/>
              </a:rPr>
              <a:t>5. </a:t>
            </a:r>
            <a:r>
              <a:rPr lang="en-US" b="true" sz="2699">
                <a:solidFill>
                  <a:srgbClr val="000000"/>
                </a:solidFill>
                <a:latin typeface="Times New Roman MT Bold"/>
                <a:ea typeface="Times New Roman MT Bold"/>
                <a:cs typeface="Times New Roman MT Bold"/>
                <a:sym typeface="Times New Roman MT Bold"/>
              </a:rPr>
              <a:t>Individuals bypassing basic content filters:</a:t>
            </a:r>
            <a:r>
              <a:rPr lang="en-US" sz="2699">
                <a:solidFill>
                  <a:srgbClr val="000000"/>
                </a:solidFill>
                <a:latin typeface="Times New Roman MT"/>
                <a:ea typeface="Times New Roman MT"/>
                <a:cs typeface="Times New Roman MT"/>
                <a:sym typeface="Times New Roman MT"/>
              </a:rPr>
              <a:t> To send short messages that might be flagged by basic keyword filters if sent in plain text (e.g., specific URLs or forbidden terms).</a:t>
            </a:r>
          </a:p>
          <a:p>
            <a:pPr algn="l">
              <a:lnSpc>
                <a:spcPts val="3239"/>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1044238" y="664894"/>
            <a:ext cx="542925" cy="542925"/>
            <a:chOff x="0" y="0"/>
            <a:chExt cx="723900" cy="723900"/>
          </a:xfrm>
        </p:grpSpPr>
        <p:sp>
          <p:nvSpPr>
            <p:cNvPr name="Freeform 30" id="30"/>
            <p:cNvSpPr/>
            <p:nvPr/>
          </p:nvSpPr>
          <p:spPr>
            <a:xfrm flipH="false" flipV="false" rot="0">
              <a:off x="0" y="0"/>
              <a:ext cx="723900" cy="723900"/>
            </a:xfrm>
            <a:custGeom>
              <a:avLst/>
              <a:gdLst/>
              <a:ahLst/>
              <a:cxnLst/>
              <a:rect r="r" b="b" t="t" l="l"/>
              <a:pathLst>
                <a:path h="723900" w="723900">
                  <a:moveTo>
                    <a:pt x="0" y="361950"/>
                  </a:moveTo>
                  <a:cubicBezTo>
                    <a:pt x="0" y="162052"/>
                    <a:pt x="162052" y="0"/>
                    <a:pt x="361950" y="0"/>
                  </a:cubicBezTo>
                  <a:cubicBezTo>
                    <a:pt x="561848" y="0"/>
                    <a:pt x="723900" y="162052"/>
                    <a:pt x="723900" y="361950"/>
                  </a:cubicBezTo>
                  <a:cubicBezTo>
                    <a:pt x="723900" y="561848"/>
                    <a:pt x="561848" y="723900"/>
                    <a:pt x="361950" y="723900"/>
                  </a:cubicBezTo>
                  <a:cubicBezTo>
                    <a:pt x="162052" y="723900"/>
                    <a:pt x="0" y="561848"/>
                    <a:pt x="0" y="361950"/>
                  </a:cubicBezTo>
                  <a:close/>
                </a:path>
              </a:pathLst>
            </a:custGeom>
            <a:solidFill>
              <a:srgbClr val="EBEBEB"/>
            </a:solidFill>
            <a:ln w="12700">
              <a:solidFill>
                <a:srgbClr val="000000"/>
              </a:solidFill>
            </a:ln>
          </p:spPr>
        </p:sp>
      </p:grpSp>
      <p:grpSp>
        <p:nvGrpSpPr>
          <p:cNvPr name="Group 31" id="31"/>
          <p:cNvGrpSpPr/>
          <p:nvPr/>
        </p:nvGrpSpPr>
        <p:grpSpPr>
          <a:xfrm rot="0">
            <a:off x="16510869" y="8408991"/>
            <a:ext cx="981340" cy="981340"/>
            <a:chOff x="0" y="0"/>
            <a:chExt cx="1308454" cy="1308454"/>
          </a:xfrm>
        </p:grpSpPr>
        <p:sp>
          <p:nvSpPr>
            <p:cNvPr name="Freeform 32" id="32"/>
            <p:cNvSpPr/>
            <p:nvPr/>
          </p:nvSpPr>
          <p:spPr>
            <a:xfrm flipH="false" flipV="false" rot="0">
              <a:off x="0" y="0"/>
              <a:ext cx="1308354" cy="1308354"/>
            </a:xfrm>
            <a:custGeom>
              <a:avLst/>
              <a:gdLst/>
              <a:ahLst/>
              <a:cxnLst/>
              <a:rect r="r" b="b" t="t" l="l"/>
              <a:pathLst>
                <a:path h="1308354" w="1308354">
                  <a:moveTo>
                    <a:pt x="0" y="654177"/>
                  </a:moveTo>
                  <a:cubicBezTo>
                    <a:pt x="0" y="292862"/>
                    <a:pt x="292862" y="0"/>
                    <a:pt x="654177" y="0"/>
                  </a:cubicBezTo>
                  <a:cubicBezTo>
                    <a:pt x="1015492" y="0"/>
                    <a:pt x="1308354" y="292862"/>
                    <a:pt x="1308354" y="654177"/>
                  </a:cubicBezTo>
                  <a:cubicBezTo>
                    <a:pt x="1308354" y="1015492"/>
                    <a:pt x="1015492" y="1308354"/>
                    <a:pt x="654177" y="1308354"/>
                  </a:cubicBezTo>
                  <a:cubicBezTo>
                    <a:pt x="292862" y="1308354"/>
                    <a:pt x="0" y="1015492"/>
                    <a:pt x="0" y="654177"/>
                  </a:cubicBezTo>
                  <a:close/>
                </a:path>
              </a:pathLst>
            </a:custGeom>
            <a:solidFill>
              <a:srgbClr val="2E83C3"/>
            </a:solidFill>
            <a:ln w="12700">
              <a:solidFill>
                <a:srgbClr val="000000"/>
              </a:solidFill>
            </a:ln>
          </p:spPr>
        </p:sp>
      </p:grpSp>
      <p:grpSp>
        <p:nvGrpSpPr>
          <p:cNvPr name="Group 33" id="33"/>
          <p:cNvGrpSpPr/>
          <p:nvPr/>
        </p:nvGrpSpPr>
        <p:grpSpPr>
          <a:xfrm rot="0">
            <a:off x="16025686" y="9198658"/>
            <a:ext cx="376728" cy="376728"/>
            <a:chOff x="0" y="0"/>
            <a:chExt cx="502304" cy="502304"/>
          </a:xfrm>
        </p:grpSpPr>
        <p:sp>
          <p:nvSpPr>
            <p:cNvPr name="Freeform 34" id="34"/>
            <p:cNvSpPr/>
            <p:nvPr/>
          </p:nvSpPr>
          <p:spPr>
            <a:xfrm flipH="false" flipV="false" rot="0">
              <a:off x="0" y="0"/>
              <a:ext cx="502285" cy="502285"/>
            </a:xfrm>
            <a:custGeom>
              <a:avLst/>
              <a:gdLst/>
              <a:ahLst/>
              <a:cxnLst/>
              <a:rect r="r" b="b" t="t" l="l"/>
              <a:pathLst>
                <a:path h="502285" w="502285">
                  <a:moveTo>
                    <a:pt x="0" y="251206"/>
                  </a:moveTo>
                  <a:cubicBezTo>
                    <a:pt x="0" y="112395"/>
                    <a:pt x="112395" y="0"/>
                    <a:pt x="251206" y="0"/>
                  </a:cubicBezTo>
                  <a:cubicBezTo>
                    <a:pt x="390017" y="0"/>
                    <a:pt x="502285" y="112395"/>
                    <a:pt x="502285" y="251206"/>
                  </a:cubicBezTo>
                  <a:cubicBezTo>
                    <a:pt x="502285" y="390017"/>
                    <a:pt x="389890" y="502285"/>
                    <a:pt x="251206" y="502285"/>
                  </a:cubicBezTo>
                  <a:cubicBezTo>
                    <a:pt x="112522" y="502285"/>
                    <a:pt x="0" y="389890"/>
                    <a:pt x="0" y="251206"/>
                  </a:cubicBez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701038" y="9615692"/>
            <a:ext cx="5559380" cy="444138"/>
            <a:chOff x="0" y="0"/>
            <a:chExt cx="7412506" cy="592184"/>
          </a:xfrm>
        </p:grpSpPr>
        <p:sp>
          <p:nvSpPr>
            <p:cNvPr name="Freeform 36" id="36"/>
            <p:cNvSpPr/>
            <p:nvPr/>
          </p:nvSpPr>
          <p:spPr>
            <a:xfrm flipH="false" flipV="false" rot="0">
              <a:off x="0" y="0"/>
              <a:ext cx="7412482" cy="592201"/>
            </a:xfrm>
            <a:custGeom>
              <a:avLst/>
              <a:gdLst/>
              <a:ahLst/>
              <a:cxnLst/>
              <a:rect r="r" b="b" t="t" l="l"/>
              <a:pathLst>
                <a:path h="592201" w="7412482">
                  <a:moveTo>
                    <a:pt x="0" y="0"/>
                  </a:moveTo>
                  <a:lnTo>
                    <a:pt x="7412482" y="0"/>
                  </a:lnTo>
                  <a:lnTo>
                    <a:pt x="7412482" y="592201"/>
                  </a:lnTo>
                  <a:lnTo>
                    <a:pt x="0" y="592201"/>
                  </a:lnTo>
                  <a:lnTo>
                    <a:pt x="0" y="0"/>
                  </a:lnTo>
                  <a:close/>
                </a:path>
              </a:pathLst>
            </a:custGeom>
            <a:blipFill>
              <a:blip r:embed="rId3"/>
              <a:stretch>
                <a:fillRect l="0" t="0" r="0" b="2"/>
              </a:stretch>
            </a:blipFill>
          </p:spPr>
        </p:sp>
      </p:grpSp>
      <p:grpSp>
        <p:nvGrpSpPr>
          <p:cNvPr name="Group 37" id="37"/>
          <p:cNvGrpSpPr>
            <a:grpSpLocks noChangeAspect="true"/>
          </p:cNvGrpSpPr>
          <p:nvPr/>
        </p:nvGrpSpPr>
        <p:grpSpPr>
          <a:xfrm rot="0">
            <a:off x="76200" y="5730240"/>
            <a:ext cx="2590800" cy="4515036"/>
            <a:chOff x="0" y="0"/>
            <a:chExt cx="3454400" cy="6020048"/>
          </a:xfrm>
        </p:grpSpPr>
        <p:sp>
          <p:nvSpPr>
            <p:cNvPr name="Freeform 38" id="38"/>
            <p:cNvSpPr/>
            <p:nvPr/>
          </p:nvSpPr>
          <p:spPr>
            <a:xfrm flipH="true" flipV="false" rot="0">
              <a:off x="0" y="0"/>
              <a:ext cx="3454400" cy="6020054"/>
            </a:xfrm>
            <a:custGeom>
              <a:avLst/>
              <a:gdLst/>
              <a:ahLst/>
              <a:cxnLst/>
              <a:rect r="r" b="b" t="t" l="l"/>
              <a:pathLst>
                <a:path h="6020054" w="3454400">
                  <a:moveTo>
                    <a:pt x="3454400" y="0"/>
                  </a:moveTo>
                  <a:lnTo>
                    <a:pt x="0" y="0"/>
                  </a:lnTo>
                  <a:lnTo>
                    <a:pt x="0" y="6020054"/>
                  </a:lnTo>
                  <a:lnTo>
                    <a:pt x="3454400" y="6020054"/>
                  </a:lnTo>
                  <a:lnTo>
                    <a:pt x="3454400" y="0"/>
                  </a:lnTo>
                  <a:close/>
                </a:path>
              </a:pathLst>
            </a:custGeom>
            <a:blipFill>
              <a:blip r:embed="rId4"/>
              <a:stretch>
                <a:fillRect l="-5923" t="0" r="-5923" b="0"/>
              </a:stretch>
            </a:blipFill>
          </p:spPr>
        </p:sp>
      </p:grpSp>
      <p:grpSp>
        <p:nvGrpSpPr>
          <p:cNvPr name="Group 39" id="39"/>
          <p:cNvGrpSpPr/>
          <p:nvPr/>
        </p:nvGrpSpPr>
        <p:grpSpPr>
          <a:xfrm rot="0">
            <a:off x="633959" y="502181"/>
            <a:ext cx="14374851" cy="9205700"/>
            <a:chOff x="0" y="0"/>
            <a:chExt cx="3785969" cy="2424546"/>
          </a:xfrm>
        </p:grpSpPr>
        <p:sp>
          <p:nvSpPr>
            <p:cNvPr name="Freeform 40" id="40"/>
            <p:cNvSpPr/>
            <p:nvPr/>
          </p:nvSpPr>
          <p:spPr>
            <a:xfrm flipH="false" flipV="false" rot="0">
              <a:off x="0" y="0"/>
              <a:ext cx="3785969" cy="2424546"/>
            </a:xfrm>
            <a:custGeom>
              <a:avLst/>
              <a:gdLst/>
              <a:ahLst/>
              <a:cxnLst/>
              <a:rect r="r" b="b" t="t" l="l"/>
              <a:pathLst>
                <a:path h="2424546" w="3785969">
                  <a:moveTo>
                    <a:pt x="27467" y="0"/>
                  </a:moveTo>
                  <a:lnTo>
                    <a:pt x="3758502" y="0"/>
                  </a:lnTo>
                  <a:cubicBezTo>
                    <a:pt x="3765786" y="0"/>
                    <a:pt x="3772773" y="2894"/>
                    <a:pt x="3777924" y="8045"/>
                  </a:cubicBezTo>
                  <a:cubicBezTo>
                    <a:pt x="3783075" y="13196"/>
                    <a:pt x="3785969" y="20182"/>
                    <a:pt x="3785969" y="27467"/>
                  </a:cubicBezTo>
                  <a:lnTo>
                    <a:pt x="3785969" y="2397079"/>
                  </a:lnTo>
                  <a:cubicBezTo>
                    <a:pt x="3785969" y="2412249"/>
                    <a:pt x="3773671" y="2424546"/>
                    <a:pt x="3758502" y="2424546"/>
                  </a:cubicBezTo>
                  <a:lnTo>
                    <a:pt x="27467" y="2424546"/>
                  </a:lnTo>
                  <a:cubicBezTo>
                    <a:pt x="12298" y="2424546"/>
                    <a:pt x="0" y="2412249"/>
                    <a:pt x="0" y="2397079"/>
                  </a:cubicBezTo>
                  <a:lnTo>
                    <a:pt x="0" y="27467"/>
                  </a:lnTo>
                  <a:cubicBezTo>
                    <a:pt x="0" y="20182"/>
                    <a:pt x="2894" y="13196"/>
                    <a:pt x="8045" y="8045"/>
                  </a:cubicBezTo>
                  <a:cubicBezTo>
                    <a:pt x="13196" y="2894"/>
                    <a:pt x="20182" y="0"/>
                    <a:pt x="27467" y="0"/>
                  </a:cubicBezTo>
                  <a:close/>
                </a:path>
              </a:pathLst>
            </a:custGeom>
            <a:gradFill rotWithShape="true">
              <a:gsLst>
                <a:gs pos="0">
                  <a:srgbClr val="CDFFD8">
                    <a:alpha val="50000"/>
                  </a:srgbClr>
                </a:gs>
                <a:gs pos="100000">
                  <a:srgbClr val="94B9FF">
                    <a:alpha val="50000"/>
                  </a:srgbClr>
                </a:gs>
              </a:gsLst>
              <a:lin ang="0"/>
            </a:gradFill>
          </p:spPr>
        </p:sp>
        <p:sp>
          <p:nvSpPr>
            <p:cNvPr name="TextBox 41" id="41"/>
            <p:cNvSpPr txBox="true"/>
            <p:nvPr/>
          </p:nvSpPr>
          <p:spPr>
            <a:xfrm>
              <a:off x="0" y="-9525"/>
              <a:ext cx="3785969" cy="2434071"/>
            </a:xfrm>
            <a:prstGeom prst="rect">
              <a:avLst/>
            </a:prstGeom>
          </p:spPr>
          <p:txBody>
            <a:bodyPr anchor="ctr" rtlCol="false" tIns="50800" lIns="50800" bIns="50800" rIns="50800"/>
            <a:lstStyle/>
            <a:p>
              <a:pPr algn="ctr">
                <a:lnSpc>
                  <a:spcPts val="1980"/>
                </a:lnSpc>
              </a:pPr>
            </a:p>
          </p:txBody>
        </p:sp>
      </p:grpSp>
      <p:sp>
        <p:nvSpPr>
          <p:cNvPr name="TextBox 42" id="42"/>
          <p:cNvSpPr txBox="true"/>
          <p:nvPr/>
        </p:nvSpPr>
        <p:spPr>
          <a:xfrm rot="0">
            <a:off x="1082038" y="672520"/>
            <a:ext cx="7776557" cy="119933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Technology Used</a:t>
            </a:r>
          </a:p>
        </p:txBody>
      </p:sp>
      <p:sp>
        <p:nvSpPr>
          <p:cNvPr name="TextBox 43" id="43"/>
          <p:cNvSpPr txBox="true"/>
          <p:nvPr/>
        </p:nvSpPr>
        <p:spPr>
          <a:xfrm rot="0">
            <a:off x="990594" y="2167890"/>
            <a:ext cx="13376463" cy="3562350"/>
          </a:xfrm>
          <a:prstGeom prst="rect">
            <a:avLst/>
          </a:prstGeom>
        </p:spPr>
        <p:txBody>
          <a:bodyPr anchor="t" rtlCol="false" tIns="0" lIns="0" bIns="0" rIns="0">
            <a:spAutoFit/>
          </a:bodyPr>
          <a:lstStyle/>
          <a:p>
            <a:pPr algn="l">
              <a:lnSpc>
                <a:spcPts val="3479"/>
              </a:lnSpc>
              <a:spcBef>
                <a:spcPct val="0"/>
              </a:spcBef>
            </a:pPr>
            <a:r>
              <a:rPr lang="en-US" b="true" sz="2899">
                <a:solidFill>
                  <a:srgbClr val="000000"/>
                </a:solidFill>
                <a:latin typeface="Times New Roman MT Bold"/>
                <a:ea typeface="Times New Roman MT Bold"/>
                <a:cs typeface="Times New Roman MT Bold"/>
                <a:sym typeface="Times New Roman MT Bold"/>
              </a:rPr>
              <a:t>TECHNOLOGIES AND LANGUAGES</a:t>
            </a:r>
          </a:p>
          <a:p>
            <a:pPr algn="l">
              <a:lnSpc>
                <a:spcPts val="3479"/>
              </a:lnSpc>
              <a:spcBef>
                <a:spcPct val="0"/>
              </a:spcBef>
            </a:pPr>
          </a:p>
          <a:p>
            <a:pPr algn="l" marL="626106" indent="-313053" lvl="1">
              <a:lnSpc>
                <a:spcPts val="3479"/>
              </a:lnSpc>
              <a:spcBef>
                <a:spcPct val="0"/>
              </a:spcBef>
              <a:buFont typeface="Arial"/>
              <a:buChar char="•"/>
            </a:pPr>
            <a:r>
              <a:rPr lang="en-US" b="true" sz="2899">
                <a:solidFill>
                  <a:srgbClr val="000000"/>
                </a:solidFill>
                <a:latin typeface="Times New Roman MT Bold"/>
                <a:ea typeface="Times New Roman MT Bold"/>
                <a:cs typeface="Times New Roman MT Bold"/>
                <a:sym typeface="Times New Roman MT Bold"/>
              </a:rPr>
              <a:t>HTML5:</a:t>
            </a:r>
            <a:r>
              <a:rPr lang="en-US" sz="2899">
                <a:solidFill>
                  <a:srgbClr val="000000"/>
                </a:solidFill>
                <a:latin typeface="Times New Roman MT"/>
                <a:ea typeface="Times New Roman MT"/>
                <a:cs typeface="Times New Roman MT"/>
                <a:sym typeface="Times New Roman MT"/>
              </a:rPr>
              <a:t> Structure of the web app, including forms, dropzones, and UI elements.</a:t>
            </a:r>
          </a:p>
          <a:p>
            <a:pPr algn="l" marL="626106" indent="-313053" lvl="1">
              <a:lnSpc>
                <a:spcPts val="3479"/>
              </a:lnSpc>
              <a:spcBef>
                <a:spcPct val="0"/>
              </a:spcBef>
              <a:buFont typeface="Arial"/>
              <a:buChar char="•"/>
            </a:pPr>
            <a:r>
              <a:rPr lang="en-US" b="true" sz="2899">
                <a:solidFill>
                  <a:srgbClr val="000000"/>
                </a:solidFill>
                <a:latin typeface="Times New Roman MT Bold"/>
                <a:ea typeface="Times New Roman MT Bold"/>
                <a:cs typeface="Times New Roman MT Bold"/>
                <a:sym typeface="Times New Roman MT Bold"/>
              </a:rPr>
              <a:t>CSS3:</a:t>
            </a:r>
            <a:r>
              <a:rPr lang="en-US" sz="2899">
                <a:solidFill>
                  <a:srgbClr val="000000"/>
                </a:solidFill>
                <a:latin typeface="Times New Roman MT"/>
                <a:ea typeface="Times New Roman MT"/>
                <a:cs typeface="Times New Roman MT"/>
                <a:sym typeface="Times New Roman MT"/>
              </a:rPr>
              <a:t> Styling with modern features like backdrop-filter for glassmorphism, flexbox for layout, and responsive design.</a:t>
            </a:r>
          </a:p>
          <a:p>
            <a:pPr algn="l" marL="626106" indent="-313053" lvl="1">
              <a:lnSpc>
                <a:spcPts val="3479"/>
              </a:lnSpc>
              <a:spcBef>
                <a:spcPct val="0"/>
              </a:spcBef>
              <a:buFont typeface="Arial"/>
              <a:buChar char="•"/>
            </a:pPr>
            <a:r>
              <a:rPr lang="en-US" b="true" sz="2899">
                <a:solidFill>
                  <a:srgbClr val="000000"/>
                </a:solidFill>
                <a:latin typeface="Times New Roman MT Bold"/>
                <a:ea typeface="Times New Roman MT Bold"/>
                <a:cs typeface="Times New Roman MT Bold"/>
                <a:sym typeface="Times New Roman MT Bold"/>
              </a:rPr>
              <a:t>JavaScript (ES6+):</a:t>
            </a:r>
            <a:r>
              <a:rPr lang="en-US" sz="2899">
                <a:solidFill>
                  <a:srgbClr val="000000"/>
                </a:solidFill>
                <a:latin typeface="Times New Roman MT"/>
                <a:ea typeface="Times New Roman MT"/>
                <a:cs typeface="Times New Roman MT"/>
                <a:sym typeface="Times New Roman MT"/>
              </a:rPr>
              <a:t> Core functionality, including Canvas API for image processing, event handling, and steganography logic. No external libraries were used (for simplicity and performance). </a:t>
            </a:r>
          </a:p>
        </p:txBody>
      </p:sp>
      <p:sp>
        <p:nvSpPr>
          <p:cNvPr name="TextBox 44" id="44"/>
          <p:cNvSpPr txBox="true"/>
          <p:nvPr/>
        </p:nvSpPr>
        <p:spPr>
          <a:xfrm rot="0">
            <a:off x="990594" y="6096724"/>
            <a:ext cx="13001631" cy="3048000"/>
          </a:xfrm>
          <a:prstGeom prst="rect">
            <a:avLst/>
          </a:prstGeom>
        </p:spPr>
        <p:txBody>
          <a:bodyPr anchor="t" rtlCol="false" tIns="0" lIns="0" bIns="0" rIns="0">
            <a:spAutoFit/>
          </a:bodyPr>
          <a:lstStyle/>
          <a:p>
            <a:pPr algn="l">
              <a:lnSpc>
                <a:spcPts val="3599"/>
              </a:lnSpc>
            </a:pPr>
            <a:r>
              <a:rPr lang="en-US" sz="2999" b="true">
                <a:solidFill>
                  <a:srgbClr val="000000"/>
                </a:solidFill>
                <a:latin typeface="Times New Roman MT Bold"/>
                <a:ea typeface="Times New Roman MT Bold"/>
                <a:cs typeface="Times New Roman MT Bold"/>
                <a:sym typeface="Times New Roman MT Bold"/>
              </a:rPr>
              <a:t>BROWSER APIs</a:t>
            </a:r>
          </a:p>
          <a:p>
            <a:pPr algn="l">
              <a:lnSpc>
                <a:spcPts val="2400"/>
              </a:lnSpc>
              <a:spcBef>
                <a:spcPct val="0"/>
              </a:spcBef>
            </a:pPr>
          </a:p>
          <a:p>
            <a:pPr algn="l" marL="647695" indent="-323848" lvl="1">
              <a:lnSpc>
                <a:spcPts val="3599"/>
              </a:lnSpc>
              <a:spcBef>
                <a:spcPct val="0"/>
              </a:spcBef>
              <a:buFont typeface="Arial"/>
              <a:buChar char="•"/>
            </a:pPr>
            <a:r>
              <a:rPr lang="en-US" b="true" sz="2999">
                <a:solidFill>
                  <a:srgbClr val="000000"/>
                </a:solidFill>
                <a:latin typeface="Times New Roman MT Bold"/>
                <a:ea typeface="Times New Roman MT Bold"/>
                <a:cs typeface="Times New Roman MT Bold"/>
                <a:sym typeface="Times New Roman MT Bold"/>
              </a:rPr>
              <a:t>Canvas 2D API</a:t>
            </a:r>
            <a:r>
              <a:rPr lang="en-US" sz="2999">
                <a:solidFill>
                  <a:srgbClr val="000000"/>
                </a:solidFill>
                <a:latin typeface="Times New Roman MT"/>
                <a:ea typeface="Times New Roman MT"/>
                <a:cs typeface="Times New Roman MT"/>
                <a:sym typeface="Times New Roman MT"/>
              </a:rPr>
              <a:t> for reading/writing image data.</a:t>
            </a:r>
          </a:p>
          <a:p>
            <a:pPr algn="l" marL="647695" indent="-323848" lvl="1">
              <a:lnSpc>
                <a:spcPts val="3599"/>
              </a:lnSpc>
              <a:spcBef>
                <a:spcPct val="0"/>
              </a:spcBef>
              <a:buFont typeface="Arial"/>
              <a:buChar char="•"/>
            </a:pPr>
            <a:r>
              <a:rPr lang="en-US" b="true" sz="2999">
                <a:solidFill>
                  <a:srgbClr val="000000"/>
                </a:solidFill>
                <a:latin typeface="Times New Roman MT Bold"/>
                <a:ea typeface="Times New Roman MT Bold"/>
                <a:cs typeface="Times New Roman MT Bold"/>
                <a:sym typeface="Times New Roman MT Bold"/>
              </a:rPr>
              <a:t>File API</a:t>
            </a:r>
            <a:r>
              <a:rPr lang="en-US" sz="2999">
                <a:solidFill>
                  <a:srgbClr val="000000"/>
                </a:solidFill>
                <a:latin typeface="Times New Roman MT"/>
                <a:ea typeface="Times New Roman MT"/>
                <a:cs typeface="Times New Roman MT"/>
                <a:sym typeface="Times New Roman MT"/>
              </a:rPr>
              <a:t> for handling uploads and downloads.</a:t>
            </a:r>
          </a:p>
          <a:p>
            <a:pPr algn="l" marL="647695" indent="-323848" lvl="1">
              <a:lnSpc>
                <a:spcPts val="3599"/>
              </a:lnSpc>
              <a:spcBef>
                <a:spcPct val="0"/>
              </a:spcBef>
              <a:buFont typeface="Arial"/>
              <a:buChar char="•"/>
            </a:pPr>
            <a:r>
              <a:rPr lang="en-US" b="true" sz="2999">
                <a:solidFill>
                  <a:srgbClr val="000000"/>
                </a:solidFill>
                <a:latin typeface="Times New Roman MT Bold"/>
                <a:ea typeface="Times New Roman MT Bold"/>
                <a:cs typeface="Times New Roman MT Bold"/>
                <a:sym typeface="Times New Roman MT Bold"/>
              </a:rPr>
              <a:t>Bl</a:t>
            </a:r>
            <a:r>
              <a:rPr lang="en-US" b="true" sz="2999">
                <a:solidFill>
                  <a:srgbClr val="000000"/>
                </a:solidFill>
                <a:latin typeface="Times New Roman MT Bold"/>
                <a:ea typeface="Times New Roman MT Bold"/>
                <a:cs typeface="Times New Roman MT Bold"/>
                <a:sym typeface="Times New Roman MT Bold"/>
              </a:rPr>
              <a:t>ob API</a:t>
            </a:r>
            <a:r>
              <a:rPr lang="en-US" sz="2999">
                <a:solidFill>
                  <a:srgbClr val="000000"/>
                </a:solidFill>
                <a:latin typeface="Times New Roman MT"/>
                <a:ea typeface="Times New Roman MT"/>
                <a:cs typeface="Times New Roman MT"/>
                <a:sym typeface="Times New Roman MT"/>
              </a:rPr>
              <a:t> for generating downloadable images.</a:t>
            </a:r>
          </a:p>
          <a:p>
            <a:pPr algn="l" marL="647695" indent="-323848" lvl="1">
              <a:lnSpc>
                <a:spcPts val="3599"/>
              </a:lnSpc>
              <a:spcBef>
                <a:spcPct val="0"/>
              </a:spcBef>
              <a:buFont typeface="Arial"/>
              <a:buChar char="•"/>
            </a:pPr>
            <a:r>
              <a:rPr lang="en-US" b="true" sz="2999">
                <a:solidFill>
                  <a:srgbClr val="000000"/>
                </a:solidFill>
                <a:latin typeface="Times New Roman MT Bold"/>
                <a:ea typeface="Times New Roman MT Bold"/>
                <a:cs typeface="Times New Roman MT Bold"/>
                <a:sym typeface="Times New Roman MT Bold"/>
              </a:rPr>
              <a:t>No Server-Side:</a:t>
            </a:r>
            <a:r>
              <a:rPr lang="en-US" sz="2999">
                <a:solidFill>
                  <a:srgbClr val="000000"/>
                </a:solidFill>
                <a:latin typeface="Times New Roman MT"/>
                <a:ea typeface="Times New Roman MT"/>
                <a:cs typeface="Times New Roman MT"/>
                <a:sym typeface="Times New Roman MT"/>
              </a:rPr>
              <a:t> Pure client-side app; runs entirely in the browser. Compatible with any modern browser supporting ES6+ and Canvas.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673100" y="2482462"/>
            <a:ext cx="15890702" cy="7514978"/>
          </a:xfrm>
          <a:custGeom>
            <a:avLst/>
            <a:gdLst/>
            <a:ahLst/>
            <a:cxnLst/>
            <a:rect r="r" b="b" t="t" l="l"/>
            <a:pathLst>
              <a:path h="7514978" w="15890702">
                <a:moveTo>
                  <a:pt x="0" y="0"/>
                </a:moveTo>
                <a:lnTo>
                  <a:pt x="15890701" y="0"/>
                </a:lnTo>
                <a:lnTo>
                  <a:pt x="15890701" y="7514978"/>
                </a:lnTo>
                <a:lnTo>
                  <a:pt x="0" y="7514978"/>
                </a:lnTo>
                <a:lnTo>
                  <a:pt x="0" y="0"/>
                </a:lnTo>
                <a:close/>
              </a:path>
            </a:pathLst>
          </a:custGeom>
          <a:blipFill>
            <a:blip r:embed="rId3"/>
            <a:stretch>
              <a:fillRect l="0" t="0" r="0" b="0"/>
            </a:stretch>
          </a:blipFill>
        </p:spPr>
      </p:sp>
      <p:sp>
        <p:nvSpPr>
          <p:cNvPr name="TextBox 38" id="38"/>
          <p:cNvSpPr txBox="true"/>
          <p:nvPr/>
        </p:nvSpPr>
        <p:spPr>
          <a:xfrm rot="0">
            <a:off x="1105376" y="582554"/>
            <a:ext cx="4289584" cy="1174106"/>
          </a:xfrm>
          <a:prstGeom prst="rect">
            <a:avLst/>
          </a:prstGeom>
        </p:spPr>
        <p:txBody>
          <a:bodyPr anchor="t" rtlCol="false" tIns="0" lIns="0" bIns="0" rIns="0">
            <a:spAutoFit/>
          </a:bodyPr>
          <a:lstStyle/>
          <a:p>
            <a:pPr algn="l">
              <a:lnSpc>
                <a:spcPts val="8640"/>
              </a:lnSpc>
            </a:pPr>
            <a:r>
              <a:rPr lang="en-US" sz="7200" b="true">
                <a:solidFill>
                  <a:srgbClr val="000000"/>
                </a:solidFill>
                <a:latin typeface="Trebuchet MS Bold"/>
                <a:ea typeface="Trebuchet MS Bold"/>
                <a:cs typeface="Trebuchet MS Bold"/>
                <a:sym typeface="Trebuchet MS Bold"/>
              </a:rPr>
              <a:t>RESULTS </a:t>
            </a:r>
          </a:p>
        </p:txBody>
      </p:sp>
      <p:sp>
        <p:nvSpPr>
          <p:cNvPr name="TextBox 39" id="39"/>
          <p:cNvSpPr txBox="true"/>
          <p:nvPr/>
        </p:nvSpPr>
        <p:spPr>
          <a:xfrm rot="0">
            <a:off x="1105375" y="1948459"/>
            <a:ext cx="11811307" cy="400050"/>
          </a:xfrm>
          <a:prstGeom prst="rect">
            <a:avLst/>
          </a:prstGeom>
        </p:spPr>
        <p:txBody>
          <a:bodyPr anchor="t" rtlCol="false" tIns="0" lIns="0" bIns="0" rIns="0">
            <a:spAutoFit/>
          </a:bodyPr>
          <a:lstStyle/>
          <a:p>
            <a:pPr algn="l">
              <a:lnSpc>
                <a:spcPts val="3120"/>
              </a:lnSpc>
            </a:pPr>
            <a:r>
              <a:rPr lang="en-US" sz="2600">
                <a:solidFill>
                  <a:srgbClr val="404040"/>
                </a:solidFill>
                <a:latin typeface="Trebuchet MS"/>
                <a:ea typeface="Trebuchet MS"/>
                <a:cs typeface="Trebuchet MS"/>
                <a:sym typeface="Trebuchet MS"/>
              </a:rPr>
              <a:t>GitHub Link: </a:t>
            </a:r>
            <a:r>
              <a:rPr lang="en-US" sz="2600" u="sng">
                <a:solidFill>
                  <a:srgbClr val="0870CF"/>
                </a:solidFill>
                <a:latin typeface="Trebuchet MS"/>
                <a:ea typeface="Trebuchet MS"/>
                <a:cs typeface="Trebuchet MS"/>
                <a:sym typeface="Trebuchet MS"/>
                <a:hlinkClick r:id="rId4" tooltip="https://github.com/PERSONAL-PROJECTS-2000/STEGANOWEB.git"/>
              </a:rPr>
              <a:t>https://github.com/PERSONAL-PROJECTS-2000/STEGANOWEB.git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89617" y="946891"/>
            <a:ext cx="17708767" cy="8393218"/>
          </a:xfrm>
          <a:custGeom>
            <a:avLst/>
            <a:gdLst/>
            <a:ahLst/>
            <a:cxnLst/>
            <a:rect r="r" b="b" t="t" l="l"/>
            <a:pathLst>
              <a:path h="8393218" w="17708767">
                <a:moveTo>
                  <a:pt x="0" y="0"/>
                </a:moveTo>
                <a:lnTo>
                  <a:pt x="17708766" y="0"/>
                </a:lnTo>
                <a:lnTo>
                  <a:pt x="17708766" y="8393218"/>
                </a:lnTo>
                <a:lnTo>
                  <a:pt x="0" y="8393218"/>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306011" y="963868"/>
            <a:ext cx="17675978" cy="8359265"/>
          </a:xfrm>
          <a:custGeom>
            <a:avLst/>
            <a:gdLst/>
            <a:ahLst/>
            <a:cxnLst/>
            <a:rect r="r" b="b" t="t" l="l"/>
            <a:pathLst>
              <a:path h="8359265" w="17675978">
                <a:moveTo>
                  <a:pt x="0" y="0"/>
                </a:moveTo>
                <a:lnTo>
                  <a:pt x="17675978" y="0"/>
                </a:lnTo>
                <a:lnTo>
                  <a:pt x="17675978" y="8359264"/>
                </a:lnTo>
                <a:lnTo>
                  <a:pt x="0" y="8359264"/>
                </a:lnTo>
                <a:lnTo>
                  <a:pt x="0" y="0"/>
                </a:lnTo>
                <a:close/>
              </a:path>
            </a:pathLst>
          </a:custGeom>
          <a:blipFill>
            <a:blip r:embed="rId3"/>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53230" y="943538"/>
            <a:ext cx="17781539" cy="8399925"/>
          </a:xfrm>
          <a:custGeom>
            <a:avLst/>
            <a:gdLst/>
            <a:ahLst/>
            <a:cxnLst/>
            <a:rect r="r" b="b" t="t" l="l"/>
            <a:pathLst>
              <a:path h="8399925" w="17781539">
                <a:moveTo>
                  <a:pt x="0" y="0"/>
                </a:moveTo>
                <a:lnTo>
                  <a:pt x="17781540" y="0"/>
                </a:lnTo>
                <a:lnTo>
                  <a:pt x="17781540" y="8399924"/>
                </a:lnTo>
                <a:lnTo>
                  <a:pt x="0" y="8399924"/>
                </a:lnTo>
                <a:lnTo>
                  <a:pt x="0" y="0"/>
                </a:lnTo>
                <a:close/>
              </a:path>
            </a:pathLst>
          </a:custGeom>
          <a:blipFill>
            <a:blip r:embed="rId3"/>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14031686" y="8045980"/>
            <a:ext cx="685800" cy="685800"/>
            <a:chOff x="0" y="0"/>
            <a:chExt cx="914400" cy="914400"/>
          </a:xfrm>
        </p:grpSpPr>
        <p:sp>
          <p:nvSpPr>
            <p:cNvPr name="Freeform 30" id="3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solidFill>
              <a:srgbClr val="42B051"/>
            </a:solidFill>
            <a:ln w="12700">
              <a:solidFill>
                <a:srgbClr val="000000"/>
              </a:solidFill>
            </a:ln>
          </p:spPr>
        </p:sp>
      </p:grpSp>
      <p:grpSp>
        <p:nvGrpSpPr>
          <p:cNvPr name="Group 31" id="31"/>
          <p:cNvGrpSpPr/>
          <p:nvPr/>
        </p:nvGrpSpPr>
        <p:grpSpPr>
          <a:xfrm rot="0">
            <a:off x="10039186" y="2549833"/>
            <a:ext cx="479624" cy="479623"/>
            <a:chOff x="0" y="0"/>
            <a:chExt cx="639498" cy="639498"/>
          </a:xfrm>
        </p:grpSpPr>
        <p:sp>
          <p:nvSpPr>
            <p:cNvPr name="Freeform 32" id="32"/>
            <p:cNvSpPr/>
            <p:nvPr/>
          </p:nvSpPr>
          <p:spPr>
            <a:xfrm flipH="false" flipV="false" rot="0">
              <a:off x="0" y="0"/>
              <a:ext cx="639445" cy="639445"/>
            </a:xfrm>
            <a:custGeom>
              <a:avLst/>
              <a:gdLst/>
              <a:ahLst/>
              <a:cxnLst/>
              <a:rect r="r" b="b" t="t" l="l"/>
              <a:pathLst>
                <a:path h="639445" w="639445">
                  <a:moveTo>
                    <a:pt x="0" y="0"/>
                  </a:moveTo>
                  <a:lnTo>
                    <a:pt x="639445" y="0"/>
                  </a:lnTo>
                  <a:lnTo>
                    <a:pt x="639445" y="639445"/>
                  </a:lnTo>
                  <a:lnTo>
                    <a:pt x="0" y="639445"/>
                  </a:lnTo>
                  <a:close/>
                </a:path>
              </a:pathLst>
            </a:custGeom>
            <a:solidFill>
              <a:srgbClr val="2E83C3"/>
            </a:solidFill>
            <a:ln w="12700">
              <a:solidFill>
                <a:srgbClr val="000000"/>
              </a:solidFill>
            </a:ln>
          </p:spPr>
        </p:sp>
      </p:grpSp>
      <p:grpSp>
        <p:nvGrpSpPr>
          <p:cNvPr name="Group 33" id="33"/>
          <p:cNvGrpSpPr/>
          <p:nvPr/>
        </p:nvGrpSpPr>
        <p:grpSpPr>
          <a:xfrm rot="0">
            <a:off x="14031686" y="8846607"/>
            <a:ext cx="269965" cy="269966"/>
            <a:chOff x="0" y="0"/>
            <a:chExt cx="359954" cy="359954"/>
          </a:xfrm>
        </p:grpSpPr>
        <p:sp>
          <p:nvSpPr>
            <p:cNvPr name="Freeform 34" id="34"/>
            <p:cNvSpPr/>
            <p:nvPr/>
          </p:nvSpPr>
          <p:spPr>
            <a:xfrm flipH="false" flipV="false" rot="0">
              <a:off x="0" y="0"/>
              <a:ext cx="359918" cy="359918"/>
            </a:xfrm>
            <a:custGeom>
              <a:avLst/>
              <a:gdLst/>
              <a:ahLst/>
              <a:cxnLst/>
              <a:rect r="r" b="b" t="t" l="l"/>
              <a:pathLst>
                <a:path h="359918" w="359918">
                  <a:moveTo>
                    <a:pt x="0" y="0"/>
                  </a:moveTo>
                  <a:lnTo>
                    <a:pt x="359918" y="0"/>
                  </a:lnTo>
                  <a:lnTo>
                    <a:pt x="359918" y="359918"/>
                  </a:lnTo>
                  <a:lnTo>
                    <a:pt x="0" y="359918"/>
                  </a:lnTo>
                  <a:close/>
                </a:path>
              </a:pathLst>
            </a:custGeom>
            <a:solidFill>
              <a:srgbClr val="2E946B"/>
            </a:solidFill>
            <a:ln w="12700">
              <a:solidFill>
                <a:srgbClr val="000000"/>
              </a:solidFill>
            </a:ln>
          </p:spPr>
        </p:sp>
      </p:grpSp>
      <p:grpSp>
        <p:nvGrpSpPr>
          <p:cNvPr name="Group 35" id="35"/>
          <p:cNvGrpSpPr>
            <a:grpSpLocks noChangeAspect="true"/>
          </p:cNvGrpSpPr>
          <p:nvPr/>
        </p:nvGrpSpPr>
        <p:grpSpPr>
          <a:xfrm rot="0">
            <a:off x="1013936" y="9707880"/>
            <a:ext cx="3214688" cy="289560"/>
            <a:chOff x="0" y="0"/>
            <a:chExt cx="4286250" cy="386080"/>
          </a:xfrm>
        </p:grpSpPr>
        <p:sp>
          <p:nvSpPr>
            <p:cNvPr name="Freeform 36" id="36"/>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
        <p:nvSpPr>
          <p:cNvPr name="Freeform 37" id="37"/>
          <p:cNvSpPr/>
          <p:nvPr/>
        </p:nvSpPr>
        <p:spPr>
          <a:xfrm flipH="false" flipV="false" rot="0">
            <a:off x="262057" y="943081"/>
            <a:ext cx="17763886" cy="8400838"/>
          </a:xfrm>
          <a:custGeom>
            <a:avLst/>
            <a:gdLst/>
            <a:ahLst/>
            <a:cxnLst/>
            <a:rect r="r" b="b" t="t" l="l"/>
            <a:pathLst>
              <a:path h="8400838" w="17763886">
                <a:moveTo>
                  <a:pt x="0" y="0"/>
                </a:moveTo>
                <a:lnTo>
                  <a:pt x="17763886" y="0"/>
                </a:lnTo>
                <a:lnTo>
                  <a:pt x="17763886" y="8400838"/>
                </a:lnTo>
                <a:lnTo>
                  <a:pt x="0" y="8400838"/>
                </a:lnTo>
                <a:lnTo>
                  <a:pt x="0" y="0"/>
                </a:lnTo>
                <a:close/>
              </a:path>
            </a:pathLst>
          </a:custGeom>
          <a:blipFill>
            <a:blip r:embed="rId3"/>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4791360">
            <a:off x="9738484" y="5138738"/>
            <a:ext cx="10464870" cy="0"/>
          </a:xfrm>
          <a:prstGeom prst="line">
            <a:avLst/>
          </a:prstGeom>
          <a:ln cap="rnd" w="9525">
            <a:solidFill>
              <a:srgbClr val="5FCBEF"/>
            </a:solidFill>
            <a:prstDash val="solid"/>
            <a:headEnd type="none" len="sm" w="sm"/>
            <a:tailEnd type="none" len="sm" w="sm"/>
          </a:ln>
        </p:spPr>
      </p:sp>
      <p:sp>
        <p:nvSpPr>
          <p:cNvPr name="AutoShape 3" id="3"/>
          <p:cNvSpPr/>
          <p:nvPr/>
        </p:nvSpPr>
        <p:spPr>
          <a:xfrm rot="8776560">
            <a:off x="10406482" y="7899797"/>
            <a:ext cx="8608171" cy="0"/>
          </a:xfrm>
          <a:prstGeom prst="line">
            <a:avLst/>
          </a:prstGeom>
          <a:ln cap="rnd" w="9525">
            <a:solidFill>
              <a:srgbClr val="5FCBEF"/>
            </a:solidFill>
            <a:prstDash val="solid"/>
            <a:headEnd type="none" len="sm" w="sm"/>
            <a:tailEnd type="none" len="sm" w="sm"/>
          </a:ln>
        </p:spPr>
      </p:sp>
      <p:grpSp>
        <p:nvGrpSpPr>
          <p:cNvPr name="Group 4" id="4"/>
          <p:cNvGrpSpPr/>
          <p:nvPr/>
        </p:nvGrpSpPr>
        <p:grpSpPr>
          <a:xfrm rot="0">
            <a:off x="13772214" y="-12700"/>
            <a:ext cx="4511024" cy="10299701"/>
            <a:chOff x="0" y="0"/>
            <a:chExt cx="6014698" cy="13732934"/>
          </a:xfrm>
        </p:grpSpPr>
        <p:sp>
          <p:nvSpPr>
            <p:cNvPr name="Freeform 5" id="5"/>
            <p:cNvSpPr/>
            <p:nvPr/>
          </p:nvSpPr>
          <p:spPr>
            <a:xfrm flipH="false" flipV="false" rot="0">
              <a:off x="0" y="0"/>
              <a:ext cx="6014720" cy="13732890"/>
            </a:xfrm>
            <a:custGeom>
              <a:avLst/>
              <a:gdLst/>
              <a:ahLst/>
              <a:cxnLst/>
              <a:rect r="r" b="b" t="t" l="l"/>
              <a:pathLst>
                <a:path h="13732890" w="6014720">
                  <a:moveTo>
                    <a:pt x="4091051" y="0"/>
                  </a:moveTo>
                  <a:lnTo>
                    <a:pt x="6014720" y="0"/>
                  </a:lnTo>
                  <a:lnTo>
                    <a:pt x="6014720" y="13732890"/>
                  </a:lnTo>
                  <a:lnTo>
                    <a:pt x="0" y="13732890"/>
                  </a:lnTo>
                  <a:lnTo>
                    <a:pt x="4091051" y="0"/>
                  </a:lnTo>
                  <a:close/>
                </a:path>
              </a:pathLst>
            </a:custGeom>
            <a:solidFill>
              <a:srgbClr val="5FCBEF">
                <a:alpha val="12941"/>
              </a:srgbClr>
            </a:solidFill>
            <a:ln w="12700">
              <a:solidFill>
                <a:srgbClr val="000000"/>
              </a:solidFill>
            </a:ln>
          </p:spPr>
        </p:sp>
      </p:grpSp>
      <p:grpSp>
        <p:nvGrpSpPr>
          <p:cNvPr name="Group 6" id="6"/>
          <p:cNvGrpSpPr/>
          <p:nvPr/>
        </p:nvGrpSpPr>
        <p:grpSpPr>
          <a:xfrm rot="0">
            <a:off x="14405163" y="-12700"/>
            <a:ext cx="3882837" cy="10299701"/>
            <a:chOff x="0" y="0"/>
            <a:chExt cx="5177116" cy="13732934"/>
          </a:xfrm>
        </p:grpSpPr>
        <p:sp>
          <p:nvSpPr>
            <p:cNvPr name="Freeform 7" id="7"/>
            <p:cNvSpPr/>
            <p:nvPr/>
          </p:nvSpPr>
          <p:spPr>
            <a:xfrm flipH="false" flipV="false" rot="0">
              <a:off x="0" y="0"/>
              <a:ext cx="5177155" cy="13732890"/>
            </a:xfrm>
            <a:custGeom>
              <a:avLst/>
              <a:gdLst/>
              <a:ahLst/>
              <a:cxnLst/>
              <a:rect r="r" b="b" t="t" l="l"/>
              <a:pathLst>
                <a:path h="13732890" w="5177155">
                  <a:moveTo>
                    <a:pt x="0" y="0"/>
                  </a:moveTo>
                  <a:lnTo>
                    <a:pt x="5177155" y="0"/>
                  </a:lnTo>
                  <a:lnTo>
                    <a:pt x="5177155" y="13732890"/>
                  </a:lnTo>
                  <a:lnTo>
                    <a:pt x="2418969" y="13732890"/>
                  </a:lnTo>
                  <a:lnTo>
                    <a:pt x="0" y="0"/>
                  </a:lnTo>
                  <a:close/>
                </a:path>
              </a:pathLst>
            </a:custGeom>
            <a:solidFill>
              <a:srgbClr val="5FCBEF">
                <a:alpha val="3922"/>
              </a:srgbClr>
            </a:solidFill>
            <a:ln w="12700">
              <a:solidFill>
                <a:srgbClr val="000000"/>
              </a:solidFill>
            </a:ln>
          </p:spPr>
        </p:sp>
      </p:grpSp>
      <p:grpSp>
        <p:nvGrpSpPr>
          <p:cNvPr name="Group 8" id="8"/>
          <p:cNvGrpSpPr/>
          <p:nvPr/>
        </p:nvGrpSpPr>
        <p:grpSpPr>
          <a:xfrm rot="0">
            <a:off x="13398499" y="4572000"/>
            <a:ext cx="4889501" cy="5715000"/>
            <a:chOff x="0" y="0"/>
            <a:chExt cx="6519334" cy="7620000"/>
          </a:xfrm>
        </p:grpSpPr>
        <p:sp>
          <p:nvSpPr>
            <p:cNvPr name="Freeform 9" id="9"/>
            <p:cNvSpPr/>
            <p:nvPr/>
          </p:nvSpPr>
          <p:spPr>
            <a:xfrm flipH="false" flipV="false" rot="0">
              <a:off x="0" y="0"/>
              <a:ext cx="6519291" cy="7620000"/>
            </a:xfrm>
            <a:custGeom>
              <a:avLst/>
              <a:gdLst/>
              <a:ahLst/>
              <a:cxnLst/>
              <a:rect r="r" b="b" t="t" l="l"/>
              <a:pathLst>
                <a:path h="7620000" w="6519291">
                  <a:moveTo>
                    <a:pt x="0" y="7620000"/>
                  </a:moveTo>
                  <a:lnTo>
                    <a:pt x="6519291" y="0"/>
                  </a:lnTo>
                  <a:lnTo>
                    <a:pt x="6519291" y="7620000"/>
                  </a:lnTo>
                  <a:close/>
                </a:path>
              </a:pathLst>
            </a:custGeom>
            <a:solidFill>
              <a:srgbClr val="17B0E4">
                <a:alpha val="43529"/>
              </a:srgbClr>
            </a:solidFill>
            <a:ln w="12700">
              <a:solidFill>
                <a:srgbClr val="000000"/>
              </a:solidFill>
            </a:ln>
          </p:spPr>
        </p:sp>
      </p:grpSp>
      <p:grpSp>
        <p:nvGrpSpPr>
          <p:cNvPr name="Group 10" id="10"/>
          <p:cNvGrpSpPr/>
          <p:nvPr/>
        </p:nvGrpSpPr>
        <p:grpSpPr>
          <a:xfrm rot="0">
            <a:off x="14001750" y="-12700"/>
            <a:ext cx="4281489" cy="10299701"/>
            <a:chOff x="0" y="0"/>
            <a:chExt cx="5708652" cy="13732934"/>
          </a:xfrm>
        </p:grpSpPr>
        <p:sp>
          <p:nvSpPr>
            <p:cNvPr name="Freeform 11" id="11"/>
            <p:cNvSpPr/>
            <p:nvPr/>
          </p:nvSpPr>
          <p:spPr>
            <a:xfrm flipH="false" flipV="false" rot="0">
              <a:off x="0" y="0"/>
              <a:ext cx="5708650" cy="13732890"/>
            </a:xfrm>
            <a:custGeom>
              <a:avLst/>
              <a:gdLst/>
              <a:ahLst/>
              <a:cxnLst/>
              <a:rect r="r" b="b" t="t" l="l"/>
              <a:pathLst>
                <a:path h="13732890" w="5708650">
                  <a:moveTo>
                    <a:pt x="0" y="0"/>
                  </a:moveTo>
                  <a:lnTo>
                    <a:pt x="5708650" y="0"/>
                  </a:lnTo>
                  <a:lnTo>
                    <a:pt x="5708650" y="13732890"/>
                  </a:lnTo>
                  <a:lnTo>
                    <a:pt x="4941443" y="13732890"/>
                  </a:lnTo>
                  <a:lnTo>
                    <a:pt x="0" y="0"/>
                  </a:lnTo>
                  <a:close/>
                </a:path>
              </a:pathLst>
            </a:custGeom>
            <a:solidFill>
              <a:srgbClr val="17B0E4">
                <a:alpha val="24706"/>
              </a:srgbClr>
            </a:solidFill>
            <a:ln w="12700">
              <a:solidFill>
                <a:srgbClr val="000000"/>
              </a:solidFill>
            </a:ln>
          </p:spPr>
        </p:sp>
      </p:grpSp>
      <p:grpSp>
        <p:nvGrpSpPr>
          <p:cNvPr name="Group 12" id="12"/>
          <p:cNvGrpSpPr/>
          <p:nvPr/>
        </p:nvGrpSpPr>
        <p:grpSpPr>
          <a:xfrm rot="0">
            <a:off x="16348095" y="-12700"/>
            <a:ext cx="1935141" cy="10299701"/>
            <a:chOff x="0" y="0"/>
            <a:chExt cx="2580188" cy="13732934"/>
          </a:xfrm>
        </p:grpSpPr>
        <p:sp>
          <p:nvSpPr>
            <p:cNvPr name="Freeform 13" id="13"/>
            <p:cNvSpPr/>
            <p:nvPr/>
          </p:nvSpPr>
          <p:spPr>
            <a:xfrm flipH="false" flipV="false" rot="0">
              <a:off x="0" y="0"/>
              <a:ext cx="2580259" cy="13732890"/>
            </a:xfrm>
            <a:custGeom>
              <a:avLst/>
              <a:gdLst/>
              <a:ahLst/>
              <a:cxnLst/>
              <a:rect r="r" b="b" t="t" l="l"/>
              <a:pathLst>
                <a:path h="13732890" w="2580259">
                  <a:moveTo>
                    <a:pt x="2039493" y="0"/>
                  </a:moveTo>
                  <a:lnTo>
                    <a:pt x="2580259" y="0"/>
                  </a:lnTo>
                  <a:lnTo>
                    <a:pt x="2580259" y="13732890"/>
                  </a:lnTo>
                  <a:lnTo>
                    <a:pt x="0" y="13732890"/>
                  </a:lnTo>
                  <a:lnTo>
                    <a:pt x="2039493" y="0"/>
                  </a:lnTo>
                  <a:close/>
                </a:path>
              </a:pathLst>
            </a:custGeom>
            <a:solidFill>
              <a:srgbClr val="2E83C3">
                <a:alpha val="48627"/>
              </a:srgbClr>
            </a:solidFill>
            <a:ln w="12700">
              <a:solidFill>
                <a:srgbClr val="000000"/>
              </a:solidFill>
            </a:ln>
          </p:spPr>
        </p:sp>
      </p:grpSp>
      <p:grpSp>
        <p:nvGrpSpPr>
          <p:cNvPr name="Group 14" id="14"/>
          <p:cNvGrpSpPr/>
          <p:nvPr/>
        </p:nvGrpSpPr>
        <p:grpSpPr>
          <a:xfrm rot="0">
            <a:off x="16408499" y="-12700"/>
            <a:ext cx="1874737" cy="10299701"/>
            <a:chOff x="0" y="0"/>
            <a:chExt cx="2499650" cy="13732934"/>
          </a:xfrm>
        </p:grpSpPr>
        <p:sp>
          <p:nvSpPr>
            <p:cNvPr name="Freeform 15" id="15"/>
            <p:cNvSpPr/>
            <p:nvPr/>
          </p:nvSpPr>
          <p:spPr>
            <a:xfrm flipH="false" flipV="false" rot="0">
              <a:off x="0" y="0"/>
              <a:ext cx="2499614" cy="13732890"/>
            </a:xfrm>
            <a:custGeom>
              <a:avLst/>
              <a:gdLst/>
              <a:ahLst/>
              <a:cxnLst/>
              <a:rect r="r" b="b" t="t" l="l"/>
              <a:pathLst>
                <a:path h="13732890" w="2499614">
                  <a:moveTo>
                    <a:pt x="0" y="0"/>
                  </a:moveTo>
                  <a:lnTo>
                    <a:pt x="2499614" y="0"/>
                  </a:lnTo>
                  <a:lnTo>
                    <a:pt x="2499614" y="13732890"/>
                  </a:lnTo>
                  <a:lnTo>
                    <a:pt x="2218817" y="13732890"/>
                  </a:lnTo>
                  <a:lnTo>
                    <a:pt x="0" y="0"/>
                  </a:lnTo>
                  <a:close/>
                </a:path>
              </a:pathLst>
            </a:custGeom>
            <a:solidFill>
              <a:srgbClr val="236292">
                <a:alpha val="63922"/>
              </a:srgbClr>
            </a:solidFill>
            <a:ln w="12700">
              <a:solidFill>
                <a:srgbClr val="000000"/>
              </a:solidFill>
            </a:ln>
          </p:spPr>
        </p:sp>
      </p:grpSp>
      <p:grpSp>
        <p:nvGrpSpPr>
          <p:cNvPr name="Group 16" id="16"/>
          <p:cNvGrpSpPr/>
          <p:nvPr/>
        </p:nvGrpSpPr>
        <p:grpSpPr>
          <a:xfrm rot="0">
            <a:off x="15557499" y="5384800"/>
            <a:ext cx="2725738" cy="4902200"/>
            <a:chOff x="0" y="0"/>
            <a:chExt cx="3634318" cy="6536266"/>
          </a:xfrm>
        </p:grpSpPr>
        <p:sp>
          <p:nvSpPr>
            <p:cNvPr name="Freeform 17" id="17"/>
            <p:cNvSpPr/>
            <p:nvPr/>
          </p:nvSpPr>
          <p:spPr>
            <a:xfrm flipH="false" flipV="false" rot="0">
              <a:off x="0" y="0"/>
              <a:ext cx="3634359" cy="6536309"/>
            </a:xfrm>
            <a:custGeom>
              <a:avLst/>
              <a:gdLst/>
              <a:ahLst/>
              <a:cxnLst/>
              <a:rect r="r" b="b" t="t" l="l"/>
              <a:pathLst>
                <a:path h="6536309" w="3634359">
                  <a:moveTo>
                    <a:pt x="0" y="6536309"/>
                  </a:moveTo>
                  <a:lnTo>
                    <a:pt x="3634359" y="0"/>
                  </a:lnTo>
                  <a:lnTo>
                    <a:pt x="3634359" y="6536309"/>
                  </a:lnTo>
                  <a:close/>
                </a:path>
              </a:pathLst>
            </a:custGeom>
            <a:solidFill>
              <a:srgbClr val="17B0E4">
                <a:alpha val="43529"/>
              </a:srgbClr>
            </a:solidFill>
            <a:ln w="12700">
              <a:solidFill>
                <a:srgbClr val="000000"/>
              </a:solidFill>
            </a:ln>
          </p:spPr>
        </p:sp>
      </p:grpSp>
      <p:grpSp>
        <p:nvGrpSpPr>
          <p:cNvPr name="Group 18" id="18"/>
          <p:cNvGrpSpPr/>
          <p:nvPr/>
        </p:nvGrpSpPr>
        <p:grpSpPr>
          <a:xfrm rot="0">
            <a:off x="0" y="6019800"/>
            <a:ext cx="673100" cy="4267200"/>
            <a:chOff x="0" y="0"/>
            <a:chExt cx="897466" cy="5689600"/>
          </a:xfrm>
        </p:grpSpPr>
        <p:sp>
          <p:nvSpPr>
            <p:cNvPr name="Freeform 19" id="19"/>
            <p:cNvSpPr/>
            <p:nvPr/>
          </p:nvSpPr>
          <p:spPr>
            <a:xfrm flipH="false" flipV="false" rot="0">
              <a:off x="0" y="0"/>
              <a:ext cx="897509" cy="5689600"/>
            </a:xfrm>
            <a:custGeom>
              <a:avLst/>
              <a:gdLst/>
              <a:ahLst/>
              <a:cxnLst/>
              <a:rect r="r" b="b" t="t" l="l"/>
              <a:pathLst>
                <a:path h="5689600" w="897509">
                  <a:moveTo>
                    <a:pt x="0" y="5689600"/>
                  </a:moveTo>
                  <a:lnTo>
                    <a:pt x="0" y="0"/>
                  </a:lnTo>
                  <a:lnTo>
                    <a:pt x="897509" y="5689600"/>
                  </a:lnTo>
                  <a:close/>
                </a:path>
              </a:pathLst>
            </a:custGeom>
            <a:solidFill>
              <a:srgbClr val="5FCBEF">
                <a:alpha val="48627"/>
              </a:srgbClr>
            </a:solidFill>
            <a:ln w="12700">
              <a:solidFill>
                <a:srgbClr val="000000"/>
              </a:solidFill>
            </a:ln>
          </p:spPr>
        </p:sp>
      </p:grpSp>
      <p:grpSp>
        <p:nvGrpSpPr>
          <p:cNvPr name="Group 20" id="20"/>
          <p:cNvGrpSpPr/>
          <p:nvPr/>
        </p:nvGrpSpPr>
        <p:grpSpPr>
          <a:xfrm rot="0">
            <a:off x="990594" y="9568359"/>
            <a:ext cx="4114800" cy="547688"/>
            <a:chOff x="0" y="0"/>
            <a:chExt cx="5486400" cy="730250"/>
          </a:xfrm>
        </p:grpSpPr>
        <p:sp>
          <p:nvSpPr>
            <p:cNvPr name="Freeform 21" id="21"/>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2" id="22"/>
            <p:cNvSpPr txBox="true"/>
            <p:nvPr/>
          </p:nvSpPr>
          <p:spPr>
            <a:xfrm>
              <a:off x="0" y="-9525"/>
              <a:ext cx="5486400" cy="739775"/>
            </a:xfrm>
            <a:prstGeom prst="rect">
              <a:avLst/>
            </a:prstGeom>
          </p:spPr>
          <p:txBody>
            <a:bodyPr anchor="ctr" rtlCol="false" tIns="0" lIns="0" bIns="0" rIns="0"/>
            <a:lstStyle/>
            <a:p>
              <a:pPr algn="l">
                <a:lnSpc>
                  <a:spcPts val="1980"/>
                </a:lnSpc>
              </a:pPr>
              <a:r>
                <a:rPr lang="en-US" sz="1650">
                  <a:solidFill>
                    <a:srgbClr val="2E83C3"/>
                  </a:solidFill>
                  <a:latin typeface="Trebuchet MS"/>
                  <a:ea typeface="Trebuchet MS"/>
                  <a:cs typeface="Trebuchet MS"/>
                  <a:sym typeface="Trebuchet MS"/>
                </a:rPr>
                <a:t>12/10/2025</a:t>
              </a:r>
            </a:p>
          </p:txBody>
        </p:sp>
      </p:grpSp>
      <p:grpSp>
        <p:nvGrpSpPr>
          <p:cNvPr name="Group 23" id="23"/>
          <p:cNvGrpSpPr/>
          <p:nvPr/>
        </p:nvGrpSpPr>
        <p:grpSpPr>
          <a:xfrm rot="0">
            <a:off x="2168289" y="9568359"/>
            <a:ext cx="6172200" cy="547688"/>
            <a:chOff x="0" y="0"/>
            <a:chExt cx="8229600" cy="730250"/>
          </a:xfrm>
        </p:grpSpPr>
        <p:sp>
          <p:nvSpPr>
            <p:cNvPr name="Freeform 24" id="24"/>
            <p:cNvSpPr/>
            <p:nvPr/>
          </p:nvSpPr>
          <p:spPr>
            <a:xfrm flipH="false" flipV="false" rot="0">
              <a:off x="0" y="0"/>
              <a:ext cx="8229600" cy="730250"/>
            </a:xfrm>
            <a:custGeom>
              <a:avLst/>
              <a:gdLst/>
              <a:ahLst/>
              <a:cxnLst/>
              <a:rect r="r" b="b" t="t" l="l"/>
              <a:pathLst>
                <a:path h="730250" w="8229600">
                  <a:moveTo>
                    <a:pt x="0" y="0"/>
                  </a:moveTo>
                  <a:lnTo>
                    <a:pt x="8229600" y="0"/>
                  </a:lnTo>
                  <a:lnTo>
                    <a:pt x="8229600" y="730250"/>
                  </a:lnTo>
                  <a:lnTo>
                    <a:pt x="0" y="730250"/>
                  </a:lnTo>
                  <a:close/>
                </a:path>
              </a:pathLst>
            </a:custGeom>
            <a:solidFill>
              <a:srgbClr val="000000">
                <a:alpha val="0"/>
              </a:srgbClr>
            </a:solidFill>
          </p:spPr>
        </p:sp>
        <p:sp>
          <p:nvSpPr>
            <p:cNvPr name="TextBox 25" id="25"/>
            <p:cNvSpPr txBox="true"/>
            <p:nvPr/>
          </p:nvSpPr>
          <p:spPr>
            <a:xfrm>
              <a:off x="0" y="-9525"/>
              <a:ext cx="8229600" cy="739775"/>
            </a:xfrm>
            <a:prstGeom prst="rect">
              <a:avLst/>
            </a:prstGeom>
          </p:spPr>
          <p:txBody>
            <a:bodyPr anchor="ctr" rtlCol="false" tIns="0" lIns="0" bIns="0" rIns="0"/>
            <a:lstStyle/>
            <a:p>
              <a:pPr algn="l">
                <a:lnSpc>
                  <a:spcPts val="1980"/>
                </a:lnSpc>
              </a:pPr>
              <a:r>
                <a:rPr lang="en-US" sz="1650" b="true">
                  <a:solidFill>
                    <a:srgbClr val="2E83C3"/>
                  </a:solidFill>
                  <a:latin typeface="Trebuchet MS Bold"/>
                  <a:ea typeface="Trebuchet MS Bold"/>
                  <a:cs typeface="Trebuchet MS Bold"/>
                  <a:sym typeface="Trebuchet MS Bold"/>
                </a:rPr>
                <a:t>Annual Review</a:t>
              </a:r>
            </a:p>
          </p:txBody>
        </p:sp>
      </p:grpSp>
      <p:grpSp>
        <p:nvGrpSpPr>
          <p:cNvPr name="Group 26" id="26"/>
          <p:cNvGrpSpPr/>
          <p:nvPr/>
        </p:nvGrpSpPr>
        <p:grpSpPr>
          <a:xfrm rot="0">
            <a:off x="13208007" y="9568359"/>
            <a:ext cx="4114800" cy="547688"/>
            <a:chOff x="0" y="0"/>
            <a:chExt cx="5486400" cy="730250"/>
          </a:xfrm>
        </p:grpSpPr>
        <p:sp>
          <p:nvSpPr>
            <p:cNvPr name="Freeform 27" id="27"/>
            <p:cNvSpPr/>
            <p:nvPr/>
          </p:nvSpPr>
          <p:spPr>
            <a:xfrm flipH="false" flipV="false" rot="0">
              <a:off x="0" y="0"/>
              <a:ext cx="5486400" cy="730250"/>
            </a:xfrm>
            <a:custGeom>
              <a:avLst/>
              <a:gdLst/>
              <a:ahLst/>
              <a:cxnLst/>
              <a:rect r="r" b="b" t="t" l="l"/>
              <a:pathLst>
                <a:path h="730250" w="5486400">
                  <a:moveTo>
                    <a:pt x="0" y="0"/>
                  </a:moveTo>
                  <a:lnTo>
                    <a:pt x="5486400" y="0"/>
                  </a:lnTo>
                  <a:lnTo>
                    <a:pt x="5486400" y="730250"/>
                  </a:lnTo>
                  <a:lnTo>
                    <a:pt x="0" y="730250"/>
                  </a:lnTo>
                  <a:close/>
                </a:path>
              </a:pathLst>
            </a:custGeom>
            <a:solidFill>
              <a:srgbClr val="000000">
                <a:alpha val="0"/>
              </a:srgbClr>
            </a:solidFill>
          </p:spPr>
        </p:sp>
        <p:sp>
          <p:nvSpPr>
            <p:cNvPr name="TextBox 28" id="28"/>
            <p:cNvSpPr txBox="true"/>
            <p:nvPr/>
          </p:nvSpPr>
          <p:spPr>
            <a:xfrm>
              <a:off x="0" y="-9525"/>
              <a:ext cx="5486400" cy="739775"/>
            </a:xfrm>
            <a:prstGeom prst="rect">
              <a:avLst/>
            </a:prstGeom>
          </p:spPr>
          <p:txBody>
            <a:bodyPr anchor="ctr" rtlCol="false" tIns="0" lIns="0" bIns="0" rIns="0"/>
            <a:lstStyle/>
            <a:p>
              <a:pPr algn="r">
                <a:lnSpc>
                  <a:spcPts val="1980"/>
                </a:lnSpc>
              </a:pPr>
              <a:r>
                <a:rPr lang="en-US" sz="1650">
                  <a:solidFill>
                    <a:srgbClr val="2E946B"/>
                  </a:solidFill>
                  <a:latin typeface="Trebuchet MS"/>
                  <a:ea typeface="Trebuchet MS"/>
                  <a:cs typeface="Trebuchet MS"/>
                  <a:sym typeface="Trebuchet MS"/>
                </a:rPr>
                <a:t>‹#›</a:t>
              </a:r>
            </a:p>
          </p:txBody>
        </p:sp>
      </p:grpSp>
      <p:grpSp>
        <p:nvGrpSpPr>
          <p:cNvPr name="Group 29" id="29"/>
          <p:cNvGrpSpPr/>
          <p:nvPr/>
        </p:nvGrpSpPr>
        <p:grpSpPr>
          <a:xfrm rot="0">
            <a:off x="820004" y="5201332"/>
            <a:ext cx="687402" cy="592588"/>
            <a:chOff x="0" y="0"/>
            <a:chExt cx="916536" cy="790118"/>
          </a:xfrm>
        </p:grpSpPr>
        <p:sp>
          <p:nvSpPr>
            <p:cNvPr name="Freeform 30" id="30"/>
            <p:cNvSpPr/>
            <p:nvPr/>
          </p:nvSpPr>
          <p:spPr>
            <a:xfrm flipH="false" flipV="false" rot="0">
              <a:off x="0" y="0"/>
              <a:ext cx="916559" cy="790067"/>
            </a:xfrm>
            <a:custGeom>
              <a:avLst/>
              <a:gdLst/>
              <a:ahLst/>
              <a:cxnLst/>
              <a:rect r="r" b="b" t="t" l="l"/>
              <a:pathLst>
                <a:path h="790067" w="916559">
                  <a:moveTo>
                    <a:pt x="0" y="395097"/>
                  </a:moveTo>
                  <a:lnTo>
                    <a:pt x="197485" y="0"/>
                  </a:lnTo>
                  <a:lnTo>
                    <a:pt x="718947" y="0"/>
                  </a:lnTo>
                  <a:lnTo>
                    <a:pt x="916559" y="395097"/>
                  </a:lnTo>
                  <a:lnTo>
                    <a:pt x="718947" y="790067"/>
                  </a:lnTo>
                  <a:lnTo>
                    <a:pt x="197485" y="790067"/>
                  </a:lnTo>
                  <a:close/>
                </a:path>
              </a:pathLst>
            </a:custGeom>
            <a:solidFill>
              <a:srgbClr val="5FCBEF"/>
            </a:solidFill>
            <a:ln w="12700">
              <a:solidFill>
                <a:srgbClr val="000000"/>
              </a:solidFill>
            </a:ln>
          </p:spPr>
        </p:sp>
      </p:grpSp>
      <p:grpSp>
        <p:nvGrpSpPr>
          <p:cNvPr name="Group 31" id="31"/>
          <p:cNvGrpSpPr/>
          <p:nvPr/>
        </p:nvGrpSpPr>
        <p:grpSpPr>
          <a:xfrm rot="0">
            <a:off x="16670005" y="3592083"/>
            <a:ext cx="537586" cy="463437"/>
            <a:chOff x="0" y="0"/>
            <a:chExt cx="716782" cy="617916"/>
          </a:xfrm>
        </p:grpSpPr>
        <p:sp>
          <p:nvSpPr>
            <p:cNvPr name="Freeform 32" id="32"/>
            <p:cNvSpPr/>
            <p:nvPr/>
          </p:nvSpPr>
          <p:spPr>
            <a:xfrm flipH="false" flipV="false" rot="0">
              <a:off x="0" y="0"/>
              <a:ext cx="716788" cy="617855"/>
            </a:xfrm>
            <a:custGeom>
              <a:avLst/>
              <a:gdLst/>
              <a:ahLst/>
              <a:cxnLst/>
              <a:rect r="r" b="b" t="t" l="l"/>
              <a:pathLst>
                <a:path h="617855" w="716788">
                  <a:moveTo>
                    <a:pt x="0" y="308991"/>
                  </a:moveTo>
                  <a:lnTo>
                    <a:pt x="154432" y="0"/>
                  </a:lnTo>
                  <a:lnTo>
                    <a:pt x="562356" y="0"/>
                  </a:lnTo>
                  <a:lnTo>
                    <a:pt x="716788" y="308991"/>
                  </a:lnTo>
                  <a:lnTo>
                    <a:pt x="562356" y="617855"/>
                  </a:lnTo>
                  <a:lnTo>
                    <a:pt x="154432" y="617855"/>
                  </a:lnTo>
                  <a:close/>
                </a:path>
              </a:pathLst>
            </a:custGeom>
            <a:solidFill>
              <a:srgbClr val="2E83C3"/>
            </a:solidFill>
            <a:ln w="12700">
              <a:solidFill>
                <a:srgbClr val="000000"/>
              </a:solidFill>
            </a:ln>
          </p:spPr>
        </p:sp>
      </p:grpSp>
      <p:grpSp>
        <p:nvGrpSpPr>
          <p:cNvPr name="Group 33" id="33"/>
          <p:cNvGrpSpPr/>
          <p:nvPr/>
        </p:nvGrpSpPr>
        <p:grpSpPr>
          <a:xfrm rot="0">
            <a:off x="16323974" y="3303303"/>
            <a:ext cx="346032" cy="298304"/>
            <a:chOff x="0" y="0"/>
            <a:chExt cx="461376" cy="397738"/>
          </a:xfrm>
        </p:grpSpPr>
        <p:sp>
          <p:nvSpPr>
            <p:cNvPr name="Freeform 34" id="34"/>
            <p:cNvSpPr/>
            <p:nvPr/>
          </p:nvSpPr>
          <p:spPr>
            <a:xfrm flipH="false" flipV="false" rot="0">
              <a:off x="0" y="0"/>
              <a:ext cx="461391" cy="397764"/>
            </a:xfrm>
            <a:custGeom>
              <a:avLst/>
              <a:gdLst/>
              <a:ahLst/>
              <a:cxnLst/>
              <a:rect r="r" b="b" t="t" l="l"/>
              <a:pathLst>
                <a:path h="397764" w="461391">
                  <a:moveTo>
                    <a:pt x="0" y="198882"/>
                  </a:moveTo>
                  <a:lnTo>
                    <a:pt x="99441" y="0"/>
                  </a:lnTo>
                  <a:lnTo>
                    <a:pt x="361950" y="0"/>
                  </a:lnTo>
                  <a:lnTo>
                    <a:pt x="461391" y="198882"/>
                  </a:lnTo>
                  <a:lnTo>
                    <a:pt x="361950" y="397764"/>
                  </a:lnTo>
                  <a:lnTo>
                    <a:pt x="99441" y="397764"/>
                  </a:lnTo>
                  <a:close/>
                </a:path>
              </a:pathLst>
            </a:custGeom>
            <a:solidFill>
              <a:srgbClr val="EBEBEB"/>
            </a:solidFill>
            <a:ln w="12700">
              <a:solidFill>
                <a:srgbClr val="000000"/>
              </a:solidFill>
            </a:ln>
          </p:spPr>
        </p:sp>
      </p:grpSp>
      <p:grpSp>
        <p:nvGrpSpPr>
          <p:cNvPr name="Group 35" id="35"/>
          <p:cNvGrpSpPr/>
          <p:nvPr/>
        </p:nvGrpSpPr>
        <p:grpSpPr>
          <a:xfrm rot="0">
            <a:off x="639000" y="4214801"/>
            <a:ext cx="17010000" cy="1857399"/>
            <a:chOff x="0" y="0"/>
            <a:chExt cx="22680000" cy="2476532"/>
          </a:xfrm>
        </p:grpSpPr>
        <p:sp>
          <p:nvSpPr>
            <p:cNvPr name="Freeform 36" id="36"/>
            <p:cNvSpPr/>
            <p:nvPr/>
          </p:nvSpPr>
          <p:spPr>
            <a:xfrm flipH="false" flipV="false" rot="0">
              <a:off x="0" y="0"/>
              <a:ext cx="22680000" cy="2476532"/>
            </a:xfrm>
            <a:custGeom>
              <a:avLst/>
              <a:gdLst/>
              <a:ahLst/>
              <a:cxnLst/>
              <a:rect r="r" b="b" t="t" l="l"/>
              <a:pathLst>
                <a:path h="2476532" w="22680000">
                  <a:moveTo>
                    <a:pt x="0" y="0"/>
                  </a:moveTo>
                  <a:lnTo>
                    <a:pt x="22680000" y="0"/>
                  </a:lnTo>
                  <a:lnTo>
                    <a:pt x="22680000" y="2476532"/>
                  </a:lnTo>
                  <a:lnTo>
                    <a:pt x="0" y="2476532"/>
                  </a:lnTo>
                  <a:close/>
                </a:path>
              </a:pathLst>
            </a:custGeom>
            <a:solidFill>
              <a:srgbClr val="000000">
                <a:alpha val="0"/>
              </a:srgbClr>
            </a:solidFill>
          </p:spPr>
        </p:sp>
        <p:sp>
          <p:nvSpPr>
            <p:cNvPr name="TextBox 37" id="37"/>
            <p:cNvSpPr txBox="true"/>
            <p:nvPr/>
          </p:nvSpPr>
          <p:spPr>
            <a:xfrm>
              <a:off x="0" y="-9525"/>
              <a:ext cx="22680000" cy="2486057"/>
            </a:xfrm>
            <a:prstGeom prst="rect">
              <a:avLst/>
            </a:prstGeom>
          </p:spPr>
          <p:txBody>
            <a:bodyPr anchor="ctr" rtlCol="false" tIns="0" lIns="0" bIns="0" rIns="0"/>
            <a:lstStyle/>
            <a:p>
              <a:pPr algn="ctr">
                <a:lnSpc>
                  <a:spcPts val="11999"/>
                </a:lnSpc>
              </a:pPr>
              <a:r>
                <a:rPr lang="en-US" sz="9999" b="true">
                  <a:solidFill>
                    <a:srgbClr val="000000"/>
                  </a:solidFill>
                  <a:latin typeface="Trebuchet MS Bold"/>
                  <a:ea typeface="Trebuchet MS Bold"/>
                  <a:cs typeface="Trebuchet MS Bold"/>
                  <a:sym typeface="Trebuchet MS Bold"/>
                </a:rPr>
                <a:t>Thank you</a:t>
              </a:r>
            </a:p>
          </p:txBody>
        </p:sp>
      </p:grpSp>
      <p:sp>
        <p:nvSpPr>
          <p:cNvPr name="TextBox 38" id="38"/>
          <p:cNvSpPr txBox="true"/>
          <p:nvPr/>
        </p:nvSpPr>
        <p:spPr>
          <a:xfrm rot="0">
            <a:off x="5683238" y="6999083"/>
            <a:ext cx="3026662" cy="1581037"/>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sp>
        <p:nvSpPr>
          <p:cNvPr name="TextBox 39" id="39"/>
          <p:cNvSpPr txBox="true"/>
          <p:nvPr/>
        </p:nvSpPr>
        <p:spPr>
          <a:xfrm rot="0">
            <a:off x="12978484" y="6999083"/>
            <a:ext cx="3026662" cy="1581037"/>
          </a:xfrm>
          <a:prstGeom prst="rect">
            <a:avLst/>
          </a:prstGeom>
        </p:spPr>
        <p:txBody>
          <a:bodyPr anchor="t" rtlCol="false" tIns="0" lIns="0" bIns="0" rIns="0">
            <a:spAutoFit/>
          </a:bodyPr>
          <a:lstStyle/>
          <a:p>
            <a:pPr algn="ctr">
              <a:lnSpc>
                <a:spcPts val="2879"/>
              </a:lnSpc>
            </a:pPr>
            <a:r>
              <a:rPr lang="en-US" sz="2400">
                <a:solidFill>
                  <a:srgbClr val="000000"/>
                </a:solidFill>
                <a:latin typeface="Trebuchet MS"/>
                <a:ea typeface="Trebuchet MS"/>
                <a:cs typeface="Trebuchet MS"/>
                <a:sym typeface="Trebuchet MS"/>
              </a:rPr>
              <a:t>.</a:t>
            </a:r>
          </a:p>
        </p:txBody>
      </p:sp>
      <p:grpSp>
        <p:nvGrpSpPr>
          <p:cNvPr name="Group 40" id="40"/>
          <p:cNvGrpSpPr>
            <a:grpSpLocks noChangeAspect="true"/>
          </p:cNvGrpSpPr>
          <p:nvPr/>
        </p:nvGrpSpPr>
        <p:grpSpPr>
          <a:xfrm rot="0">
            <a:off x="1013936" y="9707880"/>
            <a:ext cx="3214688" cy="289560"/>
            <a:chOff x="0" y="0"/>
            <a:chExt cx="4286250" cy="386080"/>
          </a:xfrm>
        </p:grpSpPr>
        <p:sp>
          <p:nvSpPr>
            <p:cNvPr name="Freeform 41" id="41"/>
            <p:cNvSpPr/>
            <p:nvPr/>
          </p:nvSpPr>
          <p:spPr>
            <a:xfrm flipH="false" flipV="false" rot="0">
              <a:off x="0" y="0"/>
              <a:ext cx="4286250" cy="386080"/>
            </a:xfrm>
            <a:custGeom>
              <a:avLst/>
              <a:gdLst/>
              <a:ahLst/>
              <a:cxnLst/>
              <a:rect r="r" b="b" t="t" l="l"/>
              <a:pathLst>
                <a:path h="386080" w="4286250">
                  <a:moveTo>
                    <a:pt x="0" y="0"/>
                  </a:moveTo>
                  <a:lnTo>
                    <a:pt x="4286250" y="0"/>
                  </a:lnTo>
                  <a:lnTo>
                    <a:pt x="4286250" y="386080"/>
                  </a:lnTo>
                  <a:lnTo>
                    <a:pt x="0" y="386080"/>
                  </a:lnTo>
                  <a:lnTo>
                    <a:pt x="0" y="0"/>
                  </a:lnTo>
                  <a:close/>
                </a:path>
              </a:pathLst>
            </a:custGeom>
            <a:blipFill>
              <a:blip r:embed="rId2"/>
              <a:stretch>
                <a:fillRect l="0" t="-2518486" r="-135857"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DAG7EgRakCQ</dc:identifier>
  <dcterms:modified xsi:type="dcterms:W3CDTF">2011-08-01T06:04:30Z</dcterms:modified>
  <cp:revision>1</cp:revision>
  <dc:title>1705895544-DIY Project ppt template .pptx</dc:title>
</cp:coreProperties>
</file>